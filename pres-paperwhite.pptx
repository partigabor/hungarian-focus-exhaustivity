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notesMasterIdLst>
    <p:notesMasterId r:id="rId61"/>
  </p:notesMasterIdLst>
  <p:handoutMasterIdLst>
    <p:handoutMasterId r:id="rId62"/>
  </p:handoutMasterIdLst>
  <p:sldIdLst>
    <p:sldId id="282" r:id="rId2"/>
    <p:sldId id="298" r:id="rId3"/>
    <p:sldId id="294" r:id="rId4"/>
    <p:sldId id="291" r:id="rId5"/>
    <p:sldId id="292" r:id="rId6"/>
    <p:sldId id="295" r:id="rId7"/>
    <p:sldId id="297" r:id="rId8"/>
    <p:sldId id="296" r:id="rId9"/>
    <p:sldId id="299" r:id="rId10"/>
    <p:sldId id="304" r:id="rId11"/>
    <p:sldId id="303" r:id="rId12"/>
    <p:sldId id="308" r:id="rId13"/>
    <p:sldId id="307" r:id="rId14"/>
    <p:sldId id="309" r:id="rId15"/>
    <p:sldId id="300" r:id="rId16"/>
    <p:sldId id="313" r:id="rId17"/>
    <p:sldId id="314" r:id="rId18"/>
    <p:sldId id="318" r:id="rId19"/>
    <p:sldId id="317" r:id="rId20"/>
    <p:sldId id="320" r:id="rId21"/>
    <p:sldId id="321" r:id="rId22"/>
    <p:sldId id="326" r:id="rId23"/>
    <p:sldId id="327" r:id="rId24"/>
    <p:sldId id="330" r:id="rId25"/>
    <p:sldId id="332" r:id="rId26"/>
    <p:sldId id="334" r:id="rId27"/>
    <p:sldId id="350" r:id="rId28"/>
    <p:sldId id="352" r:id="rId29"/>
    <p:sldId id="329" r:id="rId30"/>
    <p:sldId id="328" r:id="rId31"/>
    <p:sldId id="336" r:id="rId32"/>
    <p:sldId id="338" r:id="rId33"/>
    <p:sldId id="337" r:id="rId34"/>
    <p:sldId id="335" r:id="rId35"/>
    <p:sldId id="340" r:id="rId36"/>
    <p:sldId id="341" r:id="rId37"/>
    <p:sldId id="343" r:id="rId38"/>
    <p:sldId id="344" r:id="rId39"/>
    <p:sldId id="339" r:id="rId40"/>
    <p:sldId id="347" r:id="rId41"/>
    <p:sldId id="348" r:id="rId42"/>
    <p:sldId id="346" r:id="rId43"/>
    <p:sldId id="257" r:id="rId44"/>
    <p:sldId id="269" r:id="rId45"/>
    <p:sldId id="268" r:id="rId46"/>
    <p:sldId id="272" r:id="rId47"/>
    <p:sldId id="263" r:id="rId48"/>
    <p:sldId id="261" r:id="rId49"/>
    <p:sldId id="270" r:id="rId50"/>
    <p:sldId id="271" r:id="rId51"/>
    <p:sldId id="273" r:id="rId52"/>
    <p:sldId id="274" r:id="rId53"/>
    <p:sldId id="275" r:id="rId54"/>
    <p:sldId id="277" r:id="rId55"/>
    <p:sldId id="276" r:id="rId56"/>
    <p:sldId id="278" r:id="rId57"/>
    <p:sldId id="267" r:id="rId58"/>
    <p:sldId id="281" r:id="rId59"/>
    <p:sldId id="25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70" d="100"/>
          <a:sy n="70" d="100"/>
        </p:scale>
        <p:origin x="536" y="32"/>
      </p:cViewPr>
      <p:guideLst>
        <p:guide orient="horz" pos="2160"/>
        <p:guide pos="3840"/>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C46DCC-8AD7-57A2-2355-77A6032626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23A7A0-EDFE-8796-52D3-A1DE00E7EF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60018-7CC8-401C-AB78-8B75404606AA}" type="datetimeFigureOut">
              <a:rPr lang="en-US" smtClean="0"/>
              <a:t>2/27/2026</a:t>
            </a:fld>
            <a:endParaRPr lang="en-US"/>
          </a:p>
        </p:txBody>
      </p:sp>
      <p:sp>
        <p:nvSpPr>
          <p:cNvPr id="4" name="Footer Placeholder 3">
            <a:extLst>
              <a:ext uri="{FF2B5EF4-FFF2-40B4-BE49-F238E27FC236}">
                <a16:creationId xmlns:a16="http://schemas.microsoft.com/office/drawing/2014/main" id="{3BD41780-2367-FBA5-59DB-202906D2C7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9AD82E7-1900-560F-C6C7-5AFA04A6A4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8B1D2C-AB8E-497C-9B37-D95D73F328C3}" type="slidenum">
              <a:rPr lang="en-US" smtClean="0"/>
              <a:t>‹#›</a:t>
            </a:fld>
            <a:endParaRPr lang="en-US"/>
          </a:p>
        </p:txBody>
      </p:sp>
    </p:spTree>
    <p:extLst>
      <p:ext uri="{BB962C8B-B14F-4D97-AF65-F5344CB8AC3E}">
        <p14:creationId xmlns:p14="http://schemas.microsoft.com/office/powerpoint/2010/main" val="1629058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59BB8-8670-4246-B25D-4FC5ED36B8F7}"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CB590-530B-41C4-9C81-7DA6449172BA}" type="slidenum">
              <a:rPr lang="en-US" smtClean="0"/>
              <a:t>‹#›</a:t>
            </a:fld>
            <a:endParaRPr lang="en-US"/>
          </a:p>
        </p:txBody>
      </p:sp>
    </p:spTree>
    <p:extLst>
      <p:ext uri="{BB962C8B-B14F-4D97-AF65-F5344CB8AC3E}">
        <p14:creationId xmlns:p14="http://schemas.microsoft.com/office/powerpoint/2010/main" val="377930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a:prstGeom prst="rect">
            <a:avLst/>
          </a:prstGeo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BF6D765-002A-4342-9A27-1499FB12475C}" type="datetime1">
              <a:rPr lang="en-US" smtClean="0"/>
              <a:t>2/27/2026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6099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7E7C12-67C9-485C-820C-513DE461645A}" type="datetime1">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Title Placeholder 1">
            <a:extLst>
              <a:ext uri="{FF2B5EF4-FFF2-40B4-BE49-F238E27FC236}">
                <a16:creationId xmlns:a16="http://schemas.microsoft.com/office/drawing/2014/main" id="{C5BE26AE-0E69-BDD7-144E-182B49317F31}"/>
              </a:ext>
            </a:extLst>
          </p:cNvPr>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8" name="Text Placeholder 2">
            <a:extLst>
              <a:ext uri="{FF2B5EF4-FFF2-40B4-BE49-F238E27FC236}">
                <a16:creationId xmlns:a16="http://schemas.microsoft.com/office/drawing/2014/main" id="{9DF0A6A8-EC8F-7E72-BB5D-E0D5E880E100}"/>
              </a:ext>
            </a:extLst>
          </p:cNvPr>
          <p:cNvSpPr>
            <a:spLocks noGrp="1"/>
          </p:cNvSpPr>
          <p:nvPr>
            <p:ph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81430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66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a:prstGeom prst="rect">
            <a:avLst/>
          </a:prstGeo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F978D1-8A5E-4FEF-BEEE-7C5FD85138FC}" type="datetime1">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94508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828032"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6C8F2A-3531-4A29-9F1E-3978A22101A4}" type="datetime1">
              <a:rPr lang="en-US" smtClean="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6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a:prstGeom prst="rect">
            <a:avLst/>
          </a:prstGeo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828032" cy="731520"/>
          </a:xfrm>
          <a:prstGeom prst="rect">
            <a:avLst/>
          </a:prstGeo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828032"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4D1F1A-0741-496E-8B9C-B92A95DD16AD}" type="datetime1">
              <a:rPr lang="en-US" smtClean="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83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76A380-FA24-4993-8830-303CEC9CE16B}" type="datetime1">
              <a:rPr lang="en-US" smtClean="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5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6E378-4A2A-47BA-9986-40FF8A7619DE}" type="datetime1">
              <a:rPr lang="en-US" smtClean="0"/>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53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a:prstGeom prst="rect">
            <a:avLst/>
          </a:prstGeo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a:prstGeom prst="rect">
            <a:avLst/>
          </a:prstGeo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9EA816-D1F5-4388-842B-7976C0692158}" type="datetime1">
              <a:rPr lang="en-US" smtClean="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50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a:prstGeom prst="rect">
            <a:avLst/>
          </a:prstGeo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F47C5A-0C90-426A-BA35-78C5C3FF49DC}" type="datetime1">
              <a:rPr lang="en-US" smtClean="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96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261871" y="1473200"/>
            <a:ext cx="9692639" cy="50190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2ED1A-FEFC-44CA-B4FE-E0737B71C631}" type="datetime1">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5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FF9B8-0434-4E77-A033-3A5C17C8663C}" type="datetime1">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656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39A0FD01-2B24-4C0C-9B52-4F23CD4DFF11}" type="datetime1">
              <a:rPr lang="en-US" smtClean="0"/>
              <a:t>2/27/2026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33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0000" algn="l" defTabSz="914400" rtl="0" eaLnBrk="1" latinLnBrk="0" hangingPunct="1">
        <a:lnSpc>
          <a:spcPct val="100000"/>
        </a:lnSpc>
        <a:spcBef>
          <a:spcPts val="1400"/>
        </a:spcBef>
        <a:spcAft>
          <a:spcPts val="600"/>
        </a:spcAft>
        <a:buClr>
          <a:schemeClr val="accent1"/>
        </a:buClr>
        <a:buSzPct val="80000"/>
        <a:buFont typeface="Arial" pitchFamily="34" charset="0"/>
        <a:buChar char="•"/>
        <a:defRPr sz="2800" kern="1200" spc="10" baseline="0">
          <a:solidFill>
            <a:schemeClr val="tx1"/>
          </a:solidFill>
          <a:latin typeface="+mn-lt"/>
          <a:ea typeface="+mn-ea"/>
          <a:cs typeface="+mn-cs"/>
        </a:defRPr>
      </a:lvl1pPr>
      <a:lvl2pPr marL="45720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73152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3pPr>
      <a:lvl4pPr marL="100584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4pPr>
      <a:lvl5pPr marL="128016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2DFB-759E-FB11-8122-08A8588CA5F9}"/>
              </a:ext>
            </a:extLst>
          </p:cNvPr>
          <p:cNvSpPr>
            <a:spLocks noGrp="1"/>
          </p:cNvSpPr>
          <p:nvPr>
            <p:ph type="ctrTitle"/>
          </p:nvPr>
        </p:nvSpPr>
        <p:spPr>
          <a:xfrm>
            <a:off x="1261872" y="448056"/>
            <a:ext cx="9070848" cy="4645152"/>
          </a:xfrm>
        </p:spPr>
        <p:txBody>
          <a:bodyPr>
            <a:normAutofit/>
          </a:bodyPr>
          <a:lstStyle/>
          <a:p>
            <a:pPr>
              <a:lnSpc>
                <a:spcPct val="100000"/>
              </a:lnSpc>
              <a:spcAft>
                <a:spcPts val="1200"/>
              </a:spcAft>
            </a:pPr>
            <a:r>
              <a:rPr lang="en-US" b="1" dirty="0"/>
              <a:t>Exclusivity in Hungarian focus constructions:</a:t>
            </a:r>
            <a:br>
              <a:rPr lang="en-US" dirty="0"/>
            </a:br>
            <a:r>
              <a:rPr lang="en-US" sz="4800" dirty="0"/>
              <a:t>A visual world paradigm study with self-paced reading and eye-tracking</a:t>
            </a:r>
            <a:br>
              <a:rPr lang="en-US" sz="4800" dirty="0"/>
            </a:br>
            <a:r>
              <a:rPr lang="hu-HU" sz="4000" dirty="0">
                <a:solidFill>
                  <a:schemeClr val="accent1"/>
                </a:solidFill>
              </a:rPr>
              <a:t>—</a:t>
            </a:r>
            <a:r>
              <a:rPr lang="en-US" sz="4000" dirty="0">
                <a:solidFill>
                  <a:schemeClr val="accent1"/>
                </a:solidFill>
              </a:rPr>
              <a:t>a small update</a:t>
            </a:r>
            <a:endParaRPr lang="en-US" dirty="0">
              <a:solidFill>
                <a:schemeClr val="accent1"/>
              </a:solidFill>
            </a:endParaRPr>
          </a:p>
        </p:txBody>
      </p:sp>
      <p:sp>
        <p:nvSpPr>
          <p:cNvPr id="3" name="Subtitle 2">
            <a:extLst>
              <a:ext uri="{FF2B5EF4-FFF2-40B4-BE49-F238E27FC236}">
                <a16:creationId xmlns:a16="http://schemas.microsoft.com/office/drawing/2014/main" id="{9358F378-2C56-AECD-4BE5-0D9CA3ABBEAF}"/>
              </a:ext>
            </a:extLst>
          </p:cNvPr>
          <p:cNvSpPr>
            <a:spLocks noGrp="1"/>
          </p:cNvSpPr>
          <p:nvPr>
            <p:ph type="subTitle" idx="1"/>
          </p:nvPr>
        </p:nvSpPr>
        <p:spPr>
          <a:xfrm>
            <a:off x="1261872" y="5093208"/>
            <a:ext cx="9418320" cy="1399032"/>
          </a:xfrm>
        </p:spPr>
        <p:txBody>
          <a:bodyPr/>
          <a:lstStyle/>
          <a:p>
            <a:r>
              <a:rPr lang="en-US" dirty="0"/>
              <a:t>PARTI G</a:t>
            </a:r>
            <a:r>
              <a:rPr lang="hu-HU" dirty="0"/>
              <a:t>á</a:t>
            </a:r>
            <a:r>
              <a:rPr lang="en-US" dirty="0" err="1"/>
              <a:t>bor</a:t>
            </a:r>
            <a:r>
              <a:rPr lang="en-US" dirty="0"/>
              <a:t>, Dr. HSU Yu-Yin </a:t>
            </a:r>
          </a:p>
          <a:p>
            <a:r>
              <a:rPr lang="en-US" dirty="0"/>
              <a:t>2025.10.30.</a:t>
            </a:r>
          </a:p>
        </p:txBody>
      </p:sp>
      <p:sp>
        <p:nvSpPr>
          <p:cNvPr id="4" name="Slide Number Placeholder 3">
            <a:extLst>
              <a:ext uri="{FF2B5EF4-FFF2-40B4-BE49-F238E27FC236}">
                <a16:creationId xmlns:a16="http://schemas.microsoft.com/office/drawing/2014/main" id="{C361D40C-FB2A-247A-233D-95CCCD42B96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3016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6112-21CA-C8BC-28DF-7014CD2D2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C0E0F-9EA1-CF1D-58A9-530A3DF88E92}"/>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505E6624-EBBF-CADD-884D-EB7BFA20930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 discourse configurational </a:t>
            </a:r>
            <a:r>
              <a:rPr lang="en-US" dirty="0"/>
              <a:t>language with a relatively “</a:t>
            </a:r>
            <a:r>
              <a:rPr lang="en-US" b="1" dirty="0"/>
              <a:t>free”</a:t>
            </a:r>
            <a:r>
              <a:rPr lang="en-US" dirty="0"/>
              <a:t> word order</a:t>
            </a:r>
          </a:p>
          <a:p>
            <a:pPr>
              <a:spcBef>
                <a:spcPts val="0"/>
              </a:spcBef>
            </a:pPr>
            <a:r>
              <a:rPr lang="en-US" dirty="0"/>
              <a:t>There is one important (prominent) place in a sentence: </a:t>
            </a:r>
            <a:r>
              <a:rPr lang="en-US" b="1" dirty="0"/>
              <a:t>the focus position</a:t>
            </a:r>
          </a:p>
          <a:p>
            <a:pPr>
              <a:spcBef>
                <a:spcPts val="0"/>
              </a:spcBef>
            </a:pPr>
            <a:r>
              <a:rPr lang="en-US" dirty="0"/>
              <a:t>Focus comes before the verb; they are always together: </a:t>
            </a:r>
            <a:r>
              <a:rPr lang="en-US" b="1" dirty="0"/>
              <a:t>focus + verb</a:t>
            </a:r>
            <a:endParaRPr lang="en-US" dirty="0"/>
          </a:p>
        </p:txBody>
      </p:sp>
      <p:sp>
        <p:nvSpPr>
          <p:cNvPr id="4" name="Slide Number Placeholder 3">
            <a:extLst>
              <a:ext uri="{FF2B5EF4-FFF2-40B4-BE49-F238E27FC236}">
                <a16:creationId xmlns:a16="http://schemas.microsoft.com/office/drawing/2014/main" id="{4955E3C7-63E2-4E89-C297-0B8A85FF571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34680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8A7D-20AE-FA7F-79A8-137EC8417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D8B8D-13EB-9DEC-58DC-0A91EC5A0420}"/>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63FB0C02-80CC-753C-8B98-8A235EE4A89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p:txBody>
      </p:sp>
      <p:sp>
        <p:nvSpPr>
          <p:cNvPr id="4" name="Slide Number Placeholder 3">
            <a:extLst>
              <a:ext uri="{FF2B5EF4-FFF2-40B4-BE49-F238E27FC236}">
                <a16:creationId xmlns:a16="http://schemas.microsoft.com/office/drawing/2014/main" id="{F71971B4-A851-5B5D-1698-EB8818BF9DF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90556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F5033-F581-5D6A-9D90-FE572A7BD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B87EE-DA53-5519-C64C-9D7FDED526F7}"/>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280B563-7B63-769D-B628-CE4AC0ABFA7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t>tanul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E607994A-BBB0-35B8-1CF5-1C8D2B98BA2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432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AC7A-2FD1-A525-0A5C-840CBBCED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F55B7-6D03-683D-D3AB-CD5DBAF1BBEA}"/>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32163E5D-691C-86BB-8D93-3E54AC7168B2}"/>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kínaiul </a:t>
            </a:r>
            <a:r>
              <a:rPr lang="hu-HU" dirty="0">
                <a:solidFill>
                  <a:schemeClr val="accent4"/>
                </a:solidFill>
              </a:rPr>
              <a:t>tanul</a:t>
            </a:r>
            <a:r>
              <a:rPr lang="hu-HU" dirty="0"/>
              <a:t> Hongkongban.</a:t>
            </a:r>
          </a:p>
          <a:p>
            <a:pPr marL="0" indent="0">
              <a:spcBef>
                <a:spcPts val="0"/>
              </a:spcBef>
              <a:buNone/>
            </a:pPr>
            <a:r>
              <a:rPr lang="en-US" dirty="0"/>
              <a:t>	</a:t>
            </a:r>
            <a:r>
              <a:rPr lang="hu-HU" dirty="0"/>
              <a:t>A barátom Hongkongban </a:t>
            </a:r>
            <a:r>
              <a:rPr lang="hu-HU" dirty="0">
                <a:solidFill>
                  <a:schemeClr val="accent4"/>
                </a:solidFill>
              </a:rPr>
              <a:t>tanul</a:t>
            </a:r>
            <a:r>
              <a:rPr lang="hu-HU" dirty="0"/>
              <a:t> kínaiul.</a:t>
            </a:r>
          </a:p>
          <a:p>
            <a:pPr marL="0" indent="0">
              <a:spcBef>
                <a:spcPts val="0"/>
              </a:spcBef>
              <a:buNone/>
            </a:pPr>
            <a:r>
              <a:rPr lang="en-US" dirty="0"/>
              <a:t>	</a:t>
            </a:r>
            <a:r>
              <a:rPr lang="hu-HU" dirty="0"/>
              <a:t>A barátom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solidFill>
                  <a:schemeClr val="accent4"/>
                </a:solidFill>
              </a:rPr>
              <a:t>tanul</a:t>
            </a:r>
            <a:r>
              <a:rPr lang="hu-HU" sz="2400" dirty="0"/>
              <a:t>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3EB5931-1F65-4E33-7BF2-732334B3D9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28468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B162-8C25-C766-6D50-9372E2228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EF49D-0FFA-049A-4D04-9CD6F4EE2821}"/>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BFB50B9F-4E39-E6B5-019D-A04D318C41B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B1553114-45A2-75EE-3625-391B4C73FCF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252712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451C-198F-432F-A928-0E8F87039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1CC7-15FA-6404-80AF-4B05621C77DB}"/>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E7D2816-6E15-84F1-6A4B-AACAAB1E4B2F}"/>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(Not Hungarian)</a:t>
            </a:r>
            <a:endParaRPr lang="hu-HU" dirty="0"/>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(Not in Budapest)</a:t>
            </a:r>
            <a:endParaRPr lang="hu-HU" dirty="0"/>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 	(Not me.)</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DFD2D81-7627-6EB0-504A-3F7259C40BB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09374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E638D-AF8D-BD00-2BFC-4D7C0C0D228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8</a:t>
            </a:fld>
            <a:endParaRPr lang="en-US" dirty="0"/>
          </a:p>
        </p:txBody>
      </p:sp>
      <p:sp>
        <p:nvSpPr>
          <p:cNvPr id="3" name="Title 2">
            <a:extLst>
              <a:ext uri="{FF2B5EF4-FFF2-40B4-BE49-F238E27FC236}">
                <a16:creationId xmlns:a16="http://schemas.microsoft.com/office/drawing/2014/main" id="{4B42CE95-82DF-C192-D918-34B4B37BA860}"/>
              </a:ext>
            </a:extLst>
          </p:cNvPr>
          <p:cNvSpPr>
            <a:spLocks noGrp="1"/>
          </p:cNvSpPr>
          <p:nvPr>
            <p:ph type="title"/>
          </p:nvPr>
        </p:nvSpPr>
        <p:spPr/>
        <p:txBody>
          <a:bodyPr>
            <a:normAutofit fontScale="90000"/>
          </a:bodyPr>
          <a:lstStyle/>
          <a:p>
            <a:r>
              <a:rPr lang="en-US" dirty="0"/>
              <a:t>Focus construction &amp; its characteristics</a:t>
            </a:r>
          </a:p>
        </p:txBody>
      </p:sp>
      <p:sp>
        <p:nvSpPr>
          <p:cNvPr id="4" name="Content Placeholder 3">
            <a:extLst>
              <a:ext uri="{FF2B5EF4-FFF2-40B4-BE49-F238E27FC236}">
                <a16:creationId xmlns:a16="http://schemas.microsoft.com/office/drawing/2014/main" id="{045D0446-9C79-8BD8-F039-F3CE9DC062EB}"/>
              </a:ext>
            </a:extLst>
          </p:cNvPr>
          <p:cNvSpPr>
            <a:spLocks noGrp="1"/>
          </p:cNvSpPr>
          <p:nvPr>
            <p:ph idx="1"/>
          </p:nvPr>
        </p:nvSpPr>
        <p:spPr>
          <a:xfrm>
            <a:off x="1261871" y="1473200"/>
            <a:ext cx="10232137" cy="5019040"/>
          </a:xfrm>
        </p:spPr>
        <p:txBody>
          <a:bodyPr/>
          <a:lstStyle/>
          <a:p>
            <a:r>
              <a:rPr lang="en-US" dirty="0"/>
              <a:t>Focus is about </a:t>
            </a:r>
            <a:r>
              <a:rPr lang="en-US" b="1" dirty="0"/>
              <a:t>emphasis, </a:t>
            </a:r>
            <a:r>
              <a:rPr lang="en-US" dirty="0"/>
              <a:t>or identification</a:t>
            </a:r>
          </a:p>
          <a:p>
            <a:r>
              <a:rPr lang="en-US" dirty="0"/>
              <a:t>Besides </a:t>
            </a:r>
            <a:r>
              <a:rPr lang="en-US" b="1" dirty="0"/>
              <a:t>movement</a:t>
            </a:r>
            <a:r>
              <a:rPr lang="en-US" dirty="0"/>
              <a:t> there is also </a:t>
            </a:r>
            <a:r>
              <a:rPr lang="en-US" b="1" dirty="0"/>
              <a:t>intonation</a:t>
            </a:r>
            <a:r>
              <a:rPr lang="en-US" dirty="0"/>
              <a:t> (secondary)</a:t>
            </a:r>
          </a:p>
          <a:p>
            <a:r>
              <a:rPr lang="en-US" b="1" dirty="0"/>
              <a:t>Question Words </a:t>
            </a:r>
            <a:r>
              <a:rPr lang="en-US" dirty="0"/>
              <a:t>– certain parts-of-speech are always in focus</a:t>
            </a:r>
          </a:p>
          <a:p>
            <a:r>
              <a:rPr lang="en-US" b="1" dirty="0"/>
              <a:t>Answers</a:t>
            </a:r>
            <a:r>
              <a:rPr lang="en-US" dirty="0"/>
              <a:t> – the information in answering questions is in automatic focus</a:t>
            </a:r>
          </a:p>
          <a:p>
            <a:r>
              <a:rPr lang="en-US" b="1" dirty="0"/>
              <a:t>Negation</a:t>
            </a:r>
            <a:r>
              <a:rPr lang="en-US" dirty="0"/>
              <a:t> – </a:t>
            </a:r>
            <a:r>
              <a:rPr lang="en-US" i="1" dirty="0" err="1"/>
              <a:t>nem</a:t>
            </a:r>
            <a:r>
              <a:rPr lang="en-US" dirty="0"/>
              <a:t> ‘no’ is automatically in focus</a:t>
            </a:r>
          </a:p>
        </p:txBody>
      </p:sp>
    </p:spTree>
    <p:extLst>
      <p:ext uri="{BB962C8B-B14F-4D97-AF65-F5344CB8AC3E}">
        <p14:creationId xmlns:p14="http://schemas.microsoft.com/office/powerpoint/2010/main" val="299543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F772F8-25E3-BBD4-868E-75B257E5B7D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9</a:t>
            </a:fld>
            <a:endParaRPr lang="en-US" dirty="0"/>
          </a:p>
        </p:txBody>
      </p:sp>
      <p:sp>
        <p:nvSpPr>
          <p:cNvPr id="3" name="Title 2">
            <a:extLst>
              <a:ext uri="{FF2B5EF4-FFF2-40B4-BE49-F238E27FC236}">
                <a16:creationId xmlns:a16="http://schemas.microsoft.com/office/drawing/2014/main" id="{5E645C30-E246-C436-7649-6050947B34E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C80480D6-A8A8-28D9-4C70-F828FBA1447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42885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25FC-9C0C-C79C-9F0F-0EB88B33C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F456A6-05D0-D89F-5F39-0412AB4DB4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10</a:t>
            </a:fld>
            <a:endParaRPr lang="en-US" dirty="0"/>
          </a:p>
        </p:txBody>
      </p:sp>
      <p:sp>
        <p:nvSpPr>
          <p:cNvPr id="3" name="Title 2">
            <a:extLst>
              <a:ext uri="{FF2B5EF4-FFF2-40B4-BE49-F238E27FC236}">
                <a16:creationId xmlns:a16="http://schemas.microsoft.com/office/drawing/2014/main" id="{29CB1561-BA5A-3922-717B-841DF686BB1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EDCC0ED2-8356-6321-1F5F-0D30198B0CF1}"/>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54072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B328-28EE-3198-B5A6-F485F110CA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1F7E59-F95C-2B27-4053-58B23BCE02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11</a:t>
            </a:fld>
            <a:endParaRPr lang="en-US" dirty="0"/>
          </a:p>
        </p:txBody>
      </p:sp>
      <p:sp>
        <p:nvSpPr>
          <p:cNvPr id="3" name="Title 2">
            <a:extLst>
              <a:ext uri="{FF2B5EF4-FFF2-40B4-BE49-F238E27FC236}">
                <a16:creationId xmlns:a16="http://schemas.microsoft.com/office/drawing/2014/main" id="{B74B4573-9FA0-DF1A-04A1-03D339ECEDA6}"/>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9602444B-6EBA-8506-D78B-358F6ABDCE2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solidFill>
                <a:schemeClr val="accent6">
                  <a:lumMod val="60000"/>
                  <a:lumOff val="40000"/>
                </a:schemeClr>
              </a:solidFill>
            </a:endParaRPr>
          </a:p>
          <a:p>
            <a:r>
              <a:rPr lang="en-US" dirty="0"/>
              <a:t>Our experiment: </a:t>
            </a:r>
            <a:r>
              <a:rPr lang="en-US" b="1" dirty="0"/>
              <a:t>exclusivity </a:t>
            </a:r>
            <a:r>
              <a:rPr lang="en-US" dirty="0"/>
              <a:t>vs.</a:t>
            </a:r>
            <a:r>
              <a:rPr lang="en-US" b="1" dirty="0"/>
              <a:t> </a:t>
            </a:r>
            <a:r>
              <a:rPr lang="en-US" b="1" dirty="0" err="1"/>
              <a:t>contrastivity</a:t>
            </a:r>
            <a:endParaRPr lang="en-US" b="1" dirty="0"/>
          </a:p>
          <a:p>
            <a:pPr lvl="1"/>
            <a:r>
              <a:rPr lang="en-US" dirty="0"/>
              <a:t>Testing if Hungarian focus is exhaustive by default, or if it can be contrastive</a:t>
            </a:r>
          </a:p>
          <a:p>
            <a:pPr lvl="1"/>
            <a:r>
              <a:rPr lang="en-US" b="1" dirty="0"/>
              <a:t>Contrastive</a:t>
            </a:r>
            <a:r>
              <a:rPr lang="en-US" dirty="0"/>
              <a:t>: Predicate can be true for other elements.</a:t>
            </a:r>
          </a:p>
          <a:p>
            <a:pPr lvl="2"/>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10209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D6BA-E25D-1FD2-FEA7-523BFAC269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4D92E7-323E-6867-D1D6-2D408BDA7B8A}"/>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12</a:t>
            </a:fld>
            <a:endParaRPr lang="en-US" dirty="0"/>
          </a:p>
        </p:txBody>
      </p:sp>
      <p:sp>
        <p:nvSpPr>
          <p:cNvPr id="3" name="Title 2">
            <a:extLst>
              <a:ext uri="{FF2B5EF4-FFF2-40B4-BE49-F238E27FC236}">
                <a16:creationId xmlns:a16="http://schemas.microsoft.com/office/drawing/2014/main" id="{38B10670-0A1B-2C62-8209-5DDD69D48B1A}"/>
              </a:ext>
            </a:extLst>
          </p:cNvPr>
          <p:cNvSpPr>
            <a:spLocks noGrp="1"/>
          </p:cNvSpPr>
          <p:nvPr>
            <p:ph type="title"/>
          </p:nvPr>
        </p:nvSpPr>
        <p:spPr/>
        <p:txBody>
          <a:bodyPr>
            <a:normAutofit fontScale="90000"/>
          </a:bodyPr>
          <a:lstStyle/>
          <a:p>
            <a:r>
              <a:rPr lang="en-US" dirty="0"/>
              <a:t>Contrastive vs. Exhaustive?</a:t>
            </a:r>
          </a:p>
        </p:txBody>
      </p:sp>
      <p:sp>
        <p:nvSpPr>
          <p:cNvPr id="4" name="Content Placeholder 3">
            <a:extLst>
              <a:ext uri="{FF2B5EF4-FFF2-40B4-BE49-F238E27FC236}">
                <a16:creationId xmlns:a16="http://schemas.microsoft.com/office/drawing/2014/main" id="{74EBE464-7209-9D9B-0CED-31FFD63CD61D}"/>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(Not Hungarian)</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(Not in Budapest)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(Not me.)</a:t>
            </a:r>
          </a:p>
          <a:p>
            <a:endParaRPr lang="en-US" dirty="0"/>
          </a:p>
        </p:txBody>
      </p:sp>
    </p:spTree>
    <p:extLst>
      <p:ext uri="{BB962C8B-B14F-4D97-AF65-F5344CB8AC3E}">
        <p14:creationId xmlns:p14="http://schemas.microsoft.com/office/powerpoint/2010/main" val="38461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777F6C-109D-9532-8A44-215A208415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13</a:t>
            </a:fld>
            <a:endParaRPr lang="en-US" dirty="0"/>
          </a:p>
        </p:txBody>
      </p:sp>
      <p:sp>
        <p:nvSpPr>
          <p:cNvPr id="3" name="Title 2">
            <a:extLst>
              <a:ext uri="{FF2B5EF4-FFF2-40B4-BE49-F238E27FC236}">
                <a16:creationId xmlns:a16="http://schemas.microsoft.com/office/drawing/2014/main" id="{F91BE9D1-8E31-DBC9-DC0A-32CECA1E8B82}"/>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Exhaustive?</a:t>
            </a:r>
          </a:p>
        </p:txBody>
      </p:sp>
      <p:sp>
        <p:nvSpPr>
          <p:cNvPr id="4" name="Content Placeholder 3">
            <a:extLst>
              <a:ext uri="{FF2B5EF4-FFF2-40B4-BE49-F238E27FC236}">
                <a16:creationId xmlns:a16="http://schemas.microsoft.com/office/drawing/2014/main" id="{3F8EF6E3-A1FA-8342-0D19-289C75F76A43}"/>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t>)</a:t>
            </a:r>
          </a:p>
          <a:p>
            <a:endParaRPr lang="en-US" dirty="0"/>
          </a:p>
        </p:txBody>
      </p:sp>
    </p:spTree>
    <p:extLst>
      <p:ext uri="{BB962C8B-B14F-4D97-AF65-F5344CB8AC3E}">
        <p14:creationId xmlns:p14="http://schemas.microsoft.com/office/powerpoint/2010/main" val="2077247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5A7-9880-390D-3E97-7723D54F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6187-612D-5286-E442-8CDE1A0A39A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14</a:t>
            </a:fld>
            <a:endParaRPr lang="en-US" dirty="0"/>
          </a:p>
        </p:txBody>
      </p:sp>
      <p:sp>
        <p:nvSpPr>
          <p:cNvPr id="3" name="Title 2">
            <a:extLst>
              <a:ext uri="{FF2B5EF4-FFF2-40B4-BE49-F238E27FC236}">
                <a16:creationId xmlns:a16="http://schemas.microsoft.com/office/drawing/2014/main" id="{8F7ADDAF-596C-5C58-AC54-4852C1EEF969}"/>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a:t>
            </a:r>
            <a:r>
              <a:rPr lang="en-US" dirty="0">
                <a:solidFill>
                  <a:schemeClr val="accent6"/>
                </a:solidFill>
              </a:rPr>
              <a:t>Exhaustive</a:t>
            </a:r>
            <a:r>
              <a:rPr lang="en-US" dirty="0"/>
              <a:t>?</a:t>
            </a:r>
          </a:p>
        </p:txBody>
      </p:sp>
      <p:sp>
        <p:nvSpPr>
          <p:cNvPr id="4" name="Content Placeholder 3">
            <a:extLst>
              <a:ext uri="{FF2B5EF4-FFF2-40B4-BE49-F238E27FC236}">
                <a16:creationId xmlns:a16="http://schemas.microsoft.com/office/drawing/2014/main" id="{72B36A24-8501-0CC3-1762-E2A23E5FEC4E}"/>
              </a:ext>
            </a:extLst>
          </p:cNvPr>
          <p:cNvSpPr>
            <a:spLocks noGrp="1"/>
          </p:cNvSpPr>
          <p:nvPr>
            <p:ph idx="1"/>
          </p:nvPr>
        </p:nvSpPr>
        <p:spPr>
          <a:xfrm>
            <a:off x="1261871" y="1473200"/>
            <a:ext cx="10789921" cy="5019040"/>
          </a:xfrm>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 vs. </a:t>
            </a:r>
            <a:r>
              <a:rPr lang="en-US" dirty="0">
                <a:solidFill>
                  <a:schemeClr val="accent6"/>
                </a:solidFill>
              </a:rPr>
              <a:t>No other lang.</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solidFill>
                  <a:schemeClr val="accent1"/>
                </a:solidFill>
              </a:rPr>
              <a:t> </a:t>
            </a:r>
            <a:r>
              <a:rPr lang="en-US" dirty="0"/>
              <a:t>vs. </a:t>
            </a:r>
            <a:r>
              <a:rPr lang="en-US" dirty="0">
                <a:solidFill>
                  <a:schemeClr val="accent6"/>
                </a:solidFill>
              </a:rPr>
              <a:t>Not anywhere</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solidFill>
                  <a:schemeClr val="accent1"/>
                </a:solidFill>
              </a:rPr>
              <a:t> </a:t>
            </a:r>
            <a:r>
              <a:rPr lang="en-US" dirty="0"/>
              <a:t>vs.</a:t>
            </a:r>
            <a:r>
              <a:rPr lang="en-US" dirty="0">
                <a:solidFill>
                  <a:schemeClr val="accent6"/>
                </a:solidFill>
              </a:rPr>
              <a:t> Noone else</a:t>
            </a:r>
            <a:r>
              <a:rPr lang="en-US" dirty="0"/>
              <a:t>)</a:t>
            </a:r>
          </a:p>
          <a:p>
            <a:endParaRPr lang="en-US" dirty="0"/>
          </a:p>
        </p:txBody>
      </p:sp>
    </p:spTree>
    <p:extLst>
      <p:ext uri="{BB962C8B-B14F-4D97-AF65-F5344CB8AC3E}">
        <p14:creationId xmlns:p14="http://schemas.microsoft.com/office/powerpoint/2010/main" val="687426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B3692-C830-41E1-A29C-ABDAD04ACC1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15</a:t>
            </a:fld>
            <a:endParaRPr lang="en-US" dirty="0"/>
          </a:p>
        </p:txBody>
      </p:sp>
      <p:sp>
        <p:nvSpPr>
          <p:cNvPr id="3" name="Title 2">
            <a:extLst>
              <a:ext uri="{FF2B5EF4-FFF2-40B4-BE49-F238E27FC236}">
                <a16:creationId xmlns:a16="http://schemas.microsoft.com/office/drawing/2014/main" id="{E8CF2C69-C1B6-2D7B-AE99-7F6150E3316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1DCAE51D-A235-D515-6F37-0EAA9B0D81FF}"/>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t>Exhaustive – forced with </a:t>
            </a:r>
            <a:r>
              <a:rPr lang="en-US" i="1" dirty="0" err="1"/>
              <a:t>csak</a:t>
            </a:r>
            <a:r>
              <a:rPr lang="en-US" dirty="0"/>
              <a:t> ‘only’</a:t>
            </a:r>
          </a:p>
          <a:p>
            <a:pPr marL="457200" indent="-457200"/>
            <a:r>
              <a:rPr lang="en-US" dirty="0"/>
              <a:t>Focus – typical focus construction</a:t>
            </a:r>
          </a:p>
          <a:p>
            <a:pPr marL="457200" indent="-457200"/>
            <a:r>
              <a:rPr lang="en-US" dirty="0"/>
              <a:t>Contrastive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249979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0AB3-76ED-A648-7FAD-94EA6289DF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9F8E59-B77D-3DAF-4C38-FFCB68EC75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16</a:t>
            </a:fld>
            <a:endParaRPr lang="en-US" dirty="0"/>
          </a:p>
        </p:txBody>
      </p:sp>
      <p:sp>
        <p:nvSpPr>
          <p:cNvPr id="3" name="Title 2">
            <a:extLst>
              <a:ext uri="{FF2B5EF4-FFF2-40B4-BE49-F238E27FC236}">
                <a16:creationId xmlns:a16="http://schemas.microsoft.com/office/drawing/2014/main" id="{BF62CE60-FC08-8A50-FDFA-73328C21BE78}"/>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D4F984ED-5652-66D7-A9D6-D2C5742DD3FE}"/>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419948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4DFC-0F27-80D6-873D-12AEE6AC71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A3DAB-522B-00A4-A833-BC25726A866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17</a:t>
            </a:fld>
            <a:endParaRPr lang="en-US" dirty="0"/>
          </a:p>
        </p:txBody>
      </p:sp>
      <p:sp>
        <p:nvSpPr>
          <p:cNvPr id="3" name="Title 2">
            <a:extLst>
              <a:ext uri="{FF2B5EF4-FFF2-40B4-BE49-F238E27FC236}">
                <a16:creationId xmlns:a16="http://schemas.microsoft.com/office/drawing/2014/main" id="{FED3D4EC-19EA-CCA4-185E-5EE435D400E4}"/>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5AC4E7EC-DC7E-3BA2-98E9-45B8B9EC6EDD}"/>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
        <p:nvSpPr>
          <p:cNvPr id="5" name="Rectangle: Rounded Corners 4">
            <a:extLst>
              <a:ext uri="{FF2B5EF4-FFF2-40B4-BE49-F238E27FC236}">
                <a16:creationId xmlns:a16="http://schemas.microsoft.com/office/drawing/2014/main" id="{3E324E1E-235E-698E-E217-DE6A9691ED82}"/>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DAB17A93-004B-8CA9-0870-B84D3CA6A356}"/>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293717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AA2F-821F-CC36-1B2C-68289BAE1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0410B-903A-A0AE-D3FB-B854C1DF513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18</a:t>
            </a:fld>
            <a:endParaRPr lang="en-US" dirty="0"/>
          </a:p>
        </p:txBody>
      </p:sp>
      <p:sp>
        <p:nvSpPr>
          <p:cNvPr id="3" name="Title 2">
            <a:extLst>
              <a:ext uri="{FF2B5EF4-FFF2-40B4-BE49-F238E27FC236}">
                <a16:creationId xmlns:a16="http://schemas.microsoft.com/office/drawing/2014/main" id="{AB570F49-8BEF-2597-01AC-C589EB8F7DC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2F512AE7-A361-2707-C100-78DB839DA5DE}"/>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a:p>
            <a:pPr marL="0" indent="0">
              <a:buNone/>
            </a:pPr>
            <a:r>
              <a:rPr lang="en-US" u="sng" dirty="0"/>
              <a:t>2 choices</a:t>
            </a:r>
            <a:r>
              <a:rPr lang="en-US" dirty="0"/>
              <a:t> – images </a:t>
            </a:r>
            <a:endParaRPr lang="en-US" u="sng" dirty="0"/>
          </a:p>
          <a:p>
            <a:pPr marL="457200" indent="-457200"/>
            <a:r>
              <a:rPr lang="en-US" dirty="0"/>
              <a:t>Exhaustive vs. Not Exhaustive</a:t>
            </a:r>
          </a:p>
          <a:p>
            <a:pPr marL="457200" indent="-457200"/>
            <a:endParaRPr lang="en-US" dirty="0"/>
          </a:p>
        </p:txBody>
      </p:sp>
      <p:sp>
        <p:nvSpPr>
          <p:cNvPr id="5" name="Rectangle: Rounded Corners 4">
            <a:extLst>
              <a:ext uri="{FF2B5EF4-FFF2-40B4-BE49-F238E27FC236}">
                <a16:creationId xmlns:a16="http://schemas.microsoft.com/office/drawing/2014/main" id="{51336C04-7FED-E9AD-B606-A63B547B683A}"/>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225D9543-380F-2290-92E2-4964259A30D0}"/>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3048759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4F82-CAF9-6196-3292-ED7F901101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5C878-4F16-F063-0CC6-9D38DF2DE82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19</a:t>
            </a:fld>
            <a:endParaRPr lang="en-US" dirty="0"/>
          </a:p>
        </p:txBody>
      </p:sp>
      <p:sp>
        <p:nvSpPr>
          <p:cNvPr id="5" name="TextBox 4">
            <a:extLst>
              <a:ext uri="{FF2B5EF4-FFF2-40B4-BE49-F238E27FC236}">
                <a16:creationId xmlns:a16="http://schemas.microsoft.com/office/drawing/2014/main" id="{6A57E076-1E5A-D715-22F0-10A24CD1307D}"/>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CC20A628-EF1A-0330-E2BF-C7B7959457F3}"/>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209359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C203-CED2-27F5-E207-FA4962E90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EA467-0432-A706-34D1-5B20D503016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20</a:t>
            </a:fld>
            <a:endParaRPr lang="en-US" dirty="0"/>
          </a:p>
        </p:txBody>
      </p:sp>
      <p:sp>
        <p:nvSpPr>
          <p:cNvPr id="5" name="TextBox 4">
            <a:extLst>
              <a:ext uri="{FF2B5EF4-FFF2-40B4-BE49-F238E27FC236}">
                <a16:creationId xmlns:a16="http://schemas.microsoft.com/office/drawing/2014/main" id="{3411C28D-F3A7-A6FE-F681-7984D73ADAB4}"/>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03F6CE2A-B4E6-2104-E608-8FFE87784BD4}"/>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938644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7E64-61E1-DC47-3371-CE9C0C8806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F2527-A421-0AFF-7F5F-14509E70F6C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21</a:t>
            </a:fld>
            <a:endParaRPr lang="en-US" dirty="0"/>
          </a:p>
        </p:txBody>
      </p:sp>
      <p:sp>
        <p:nvSpPr>
          <p:cNvPr id="5" name="TextBox 4">
            <a:extLst>
              <a:ext uri="{FF2B5EF4-FFF2-40B4-BE49-F238E27FC236}">
                <a16:creationId xmlns:a16="http://schemas.microsoft.com/office/drawing/2014/main" id="{695DC486-4F0A-2581-A9F9-502FBFBCFB51}"/>
              </a:ext>
            </a:extLst>
          </p:cNvPr>
          <p:cNvSpPr txBox="1"/>
          <p:nvPr/>
        </p:nvSpPr>
        <p:spPr>
          <a:xfrm>
            <a:off x="1188720" y="310896"/>
            <a:ext cx="10760964" cy="3046988"/>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A669709A-4C46-6B7C-D094-A1902B433EBA}"/>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7" name="Picture 6" descr="A banana on a white surface&#10;&#10;AI-generated content may be incorrect.">
            <a:extLst>
              <a:ext uri="{FF2B5EF4-FFF2-40B4-BE49-F238E27FC236}">
                <a16:creationId xmlns:a16="http://schemas.microsoft.com/office/drawing/2014/main" id="{B37FBD1E-30F0-DDA3-A65D-6DBCFF0F5441}"/>
              </a:ext>
            </a:extLst>
          </p:cNvPr>
          <p:cNvPicPr>
            <a:picLocks noChangeAspect="1"/>
          </p:cNvPicPr>
          <p:nvPr/>
        </p:nvPicPr>
        <p:blipFill>
          <a:blip r:embed="rId2"/>
          <a:stretch>
            <a:fillRect/>
          </a:stretch>
        </p:blipFill>
        <p:spPr>
          <a:xfrm>
            <a:off x="1188720" y="3429000"/>
            <a:ext cx="3233928" cy="3233928"/>
          </a:xfrm>
          <a:prstGeom prst="rect">
            <a:avLst/>
          </a:prstGeom>
        </p:spPr>
      </p:pic>
      <p:pic>
        <p:nvPicPr>
          <p:cNvPr id="8" name="Picture 7" descr="A banana and grapes next to a red apple&#10;&#10;AI-generated content may be incorrect.">
            <a:extLst>
              <a:ext uri="{FF2B5EF4-FFF2-40B4-BE49-F238E27FC236}">
                <a16:creationId xmlns:a16="http://schemas.microsoft.com/office/drawing/2014/main" id="{83DABB6A-D0D8-8159-F3FB-C55C5F8EA42C}"/>
              </a:ext>
            </a:extLst>
          </p:cNvPr>
          <p:cNvPicPr>
            <a:picLocks noChangeAspect="1"/>
          </p:cNvPicPr>
          <p:nvPr/>
        </p:nvPicPr>
        <p:blipFill>
          <a:blip r:embed="rId3"/>
          <a:stretch>
            <a:fillRect/>
          </a:stretch>
        </p:blipFill>
        <p:spPr>
          <a:xfrm>
            <a:off x="7769354" y="3429000"/>
            <a:ext cx="3233926" cy="3233926"/>
          </a:xfrm>
          <a:prstGeom prst="rect">
            <a:avLst/>
          </a:prstGeom>
        </p:spPr>
      </p:pic>
      <p:sp>
        <p:nvSpPr>
          <p:cNvPr id="9" name="TextBox 8">
            <a:extLst>
              <a:ext uri="{FF2B5EF4-FFF2-40B4-BE49-F238E27FC236}">
                <a16:creationId xmlns:a16="http://schemas.microsoft.com/office/drawing/2014/main" id="{65E55880-BA83-0A45-F430-89D1477D3CA3}"/>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0" name="TextBox 9">
            <a:extLst>
              <a:ext uri="{FF2B5EF4-FFF2-40B4-BE49-F238E27FC236}">
                <a16:creationId xmlns:a16="http://schemas.microsoft.com/office/drawing/2014/main" id="{860A1BE7-AE4B-BDA0-45B7-800D1465AC0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49887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C7CB-2153-B612-F1D9-8AB2B6D7C5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C9DF9-24BA-F360-5107-73A50F6BDF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22</a:t>
            </a:fld>
            <a:endParaRPr lang="en-US" dirty="0"/>
          </a:p>
        </p:txBody>
      </p:sp>
      <p:sp>
        <p:nvSpPr>
          <p:cNvPr id="5" name="TextBox 4">
            <a:extLst>
              <a:ext uri="{FF2B5EF4-FFF2-40B4-BE49-F238E27FC236}">
                <a16:creationId xmlns:a16="http://schemas.microsoft.com/office/drawing/2014/main" id="{31A91934-17B7-CE9E-F209-1708A6A3BDDD}"/>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i="1" dirty="0">
                <a:solidFill>
                  <a:schemeClr val="accent3"/>
                </a:solidFill>
              </a:rPr>
              <a:t>	</a:t>
            </a:r>
            <a:r>
              <a:rPr lang="hu-HU" sz="2400" dirty="0"/>
              <a:t>				</a:t>
            </a:r>
          </a:p>
        </p:txBody>
      </p:sp>
      <p:sp>
        <p:nvSpPr>
          <p:cNvPr id="3" name="TextBox 2">
            <a:extLst>
              <a:ext uri="{FF2B5EF4-FFF2-40B4-BE49-F238E27FC236}">
                <a16:creationId xmlns:a16="http://schemas.microsoft.com/office/drawing/2014/main" id="{03238D60-12A5-3B59-3BCD-AA316EFB147E}"/>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77099483-C47F-6D40-3FC5-EA8D0207E326}"/>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CFD4457F-FD39-6E3E-90C3-1C16460037C0}"/>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EA002CE-E97D-ED7E-EB58-44817E9C1927}"/>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B203F87-626A-7239-130F-77220308BD3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691791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6801-C936-C25C-2630-37E1667A5F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B5993B-18DB-8A41-62FE-0726A2EAB3B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23</a:t>
            </a:fld>
            <a:endParaRPr lang="en-US" dirty="0"/>
          </a:p>
        </p:txBody>
      </p:sp>
      <p:sp>
        <p:nvSpPr>
          <p:cNvPr id="5" name="TextBox 4">
            <a:extLst>
              <a:ext uri="{FF2B5EF4-FFF2-40B4-BE49-F238E27FC236}">
                <a16:creationId xmlns:a16="http://schemas.microsoft.com/office/drawing/2014/main" id="{F85E073F-1BEB-1BB9-D8AD-F23E8C2FD4C4}"/>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solidFill>
                  <a:schemeClr val="accent1"/>
                </a:solidFill>
                <a:effectLst>
                  <a:outerShdw blurRad="38100" dist="38100" dir="2700000" algn="tl">
                    <a:srgbClr val="000000">
                      <a:alpha val="43137"/>
                    </a:srgbClr>
                  </a:outerShdw>
                </a:effectLst>
              </a:rPr>
              <a:t>Ami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 gyümölcsöket	illeti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Anna	tegnap</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a:t>
            </a:r>
            <a:r>
              <a:rPr lang="hu-HU" sz="2400" b="1" dirty="0">
                <a:solidFill>
                  <a:schemeClr val="accent1"/>
                </a:solidFill>
                <a:effectLst>
                  <a:outerShdw blurRad="38100" dist="38100" dir="2700000" algn="tl">
                    <a:srgbClr val="000000">
                      <a:alpha val="43137"/>
                    </a:srgbClr>
                  </a:outerShdw>
                </a:effectLst>
              </a:rPr>
              <a:t>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endParaRPr lang="hu-HU" sz="2400" dirty="0"/>
          </a:p>
        </p:txBody>
      </p:sp>
      <p:sp>
        <p:nvSpPr>
          <p:cNvPr id="3" name="TextBox 2">
            <a:extLst>
              <a:ext uri="{FF2B5EF4-FFF2-40B4-BE49-F238E27FC236}">
                <a16:creationId xmlns:a16="http://schemas.microsoft.com/office/drawing/2014/main" id="{3A00AE24-19BF-8C6D-E5E4-C55DAE6280D7}"/>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8D429BA2-410A-CDDD-0694-35A79780DF2D}"/>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D572FACA-9B37-D52A-7E60-7C78913E2264}"/>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86B9479-ECAC-DBFA-614D-E554D5FB5385}"/>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329FA01-0873-0667-A491-54A5C3D728DA}"/>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
        <p:nvSpPr>
          <p:cNvPr id="6" name="TextBox 5">
            <a:extLst>
              <a:ext uri="{FF2B5EF4-FFF2-40B4-BE49-F238E27FC236}">
                <a16:creationId xmlns:a16="http://schemas.microsoft.com/office/drawing/2014/main" id="{A01BA40A-72E4-0B58-61ED-820EC86C3287}"/>
              </a:ext>
            </a:extLst>
          </p:cNvPr>
          <p:cNvSpPr txBox="1"/>
          <p:nvPr/>
        </p:nvSpPr>
        <p:spPr>
          <a:xfrm>
            <a:off x="5523529" y="3937968"/>
            <a:ext cx="1144942" cy="2215991"/>
          </a:xfrm>
          <a:prstGeom prst="rect">
            <a:avLst/>
          </a:prstGeom>
          <a:noFill/>
        </p:spPr>
        <p:txBody>
          <a:bodyPr wrap="square" rtlCol="0">
            <a:spAutoFit/>
          </a:bodyPr>
          <a:lstStyle/>
          <a:p>
            <a:pPr algn="ctr"/>
            <a:r>
              <a:rPr lang="en-US" sz="13800" dirty="0">
                <a:solidFill>
                  <a:schemeClr val="accent1"/>
                </a:solidFill>
              </a:rPr>
              <a:t>?</a:t>
            </a:r>
          </a:p>
        </p:txBody>
      </p:sp>
    </p:spTree>
    <p:extLst>
      <p:ext uri="{BB962C8B-B14F-4D97-AF65-F5344CB8AC3E}">
        <p14:creationId xmlns:p14="http://schemas.microsoft.com/office/powerpoint/2010/main" val="417843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18D2B3-E27D-E60F-32BE-32B54565423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24</a:t>
            </a:fld>
            <a:endParaRPr lang="en-US" dirty="0"/>
          </a:p>
        </p:txBody>
      </p:sp>
      <p:sp>
        <p:nvSpPr>
          <p:cNvPr id="3" name="Title 2">
            <a:extLst>
              <a:ext uri="{FF2B5EF4-FFF2-40B4-BE49-F238E27FC236}">
                <a16:creationId xmlns:a16="http://schemas.microsoft.com/office/drawing/2014/main" id="{BA4BEBBE-D2C4-DD3B-39C3-66E1E4F28DCC}"/>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B84D5A86-E4B2-8693-D80C-42779AD8487C}"/>
              </a:ext>
            </a:extLst>
          </p:cNvPr>
          <p:cNvSpPr>
            <a:spLocks noGrp="1"/>
          </p:cNvSpPr>
          <p:nvPr>
            <p:ph idx="1"/>
          </p:nvPr>
        </p:nvSpPr>
        <p:spPr/>
        <p:txBody>
          <a:bodyPr/>
          <a:lstStyle/>
          <a:p>
            <a:r>
              <a:rPr lang="en-US" dirty="0"/>
              <a:t>Self-paced reading + Picture–sentence verification with </a:t>
            </a:r>
            <a:r>
              <a:rPr lang="en-US" dirty="0" err="1"/>
              <a:t>PCIbex</a:t>
            </a:r>
            <a:endParaRPr lang="en-US" dirty="0"/>
          </a:p>
          <a:p>
            <a:endParaRPr lang="en-US" dirty="0"/>
          </a:p>
          <a:p>
            <a:endParaRPr lang="en-US" dirty="0"/>
          </a:p>
          <a:p>
            <a:endParaRPr lang="en-US" dirty="0"/>
          </a:p>
          <a:p>
            <a:pPr marL="2880"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92620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F7B4-5BB2-FA77-E873-710BD32672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68323-23A4-618A-F50C-1F87224AE2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25</a:t>
            </a:fld>
            <a:endParaRPr lang="en-US" dirty="0"/>
          </a:p>
        </p:txBody>
      </p:sp>
      <p:sp>
        <p:nvSpPr>
          <p:cNvPr id="3" name="Title 2">
            <a:extLst>
              <a:ext uri="{FF2B5EF4-FFF2-40B4-BE49-F238E27FC236}">
                <a16:creationId xmlns:a16="http://schemas.microsoft.com/office/drawing/2014/main" id="{182399A1-B25E-AB8C-0B89-9AA30F916313}"/>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CACCF0BA-50BA-56AF-5DAC-DC21C77A09D1}"/>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63D8BE8D-E8F9-4DBE-1D56-68AE2CA94CC0}"/>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9888243-A9D4-F6CF-4C76-F74CDCD5556F}"/>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85CF83EB-E375-D700-E269-DDBBFF6D5AAD}"/>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2C08FDA0-D759-A553-2F36-E500D34A5E91}"/>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6F7B7ED9-E862-941E-CFDB-B16C09E78747}"/>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B1011689-ADD7-B8AB-23DF-AE13D4CDDF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66D46791-BC71-29B6-2871-ADA3BABE27A5}"/>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EA50E93B-2C5C-4B8B-98E6-E58DE281338F}"/>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DD757BAE-CED7-E920-FE87-C89253316B18}"/>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0D6CB87F-D190-0ACF-50BF-AE4AB18C8E36}"/>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9A219209-F223-277D-1A60-33800CDCD15F}"/>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685077D5-D8AC-F778-E40C-E10554D3319E}"/>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4D34D00-EB73-F757-AC5A-5BA97229D02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6F0FD440-8720-3845-E63B-876BC49FA0B3}"/>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783B6A1-9265-7A45-9A8E-3686EDB4A225}"/>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A64F32F7-AC8D-4F4D-A1FB-0952ABAF3087}"/>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A09E029A-0907-FF4E-0511-0DD57C2BA81D}"/>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73622FAB-E689-2D86-3484-6BB4C561F2A9}"/>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6056DCCE-B2CE-73F5-A6A5-8D6A5CF3928D}"/>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795FFF2C-667B-01CC-759E-94F5D968171B}"/>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EE20BB34-470C-697B-1C14-05DED133D8AE}"/>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6407F428-985D-F3A1-FFB8-EDC9B38DC0B2}"/>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AA605F5D-B680-78B4-E615-1F2417C0CA0E}"/>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C4206DB0-F74B-30E5-9DD5-FD9A696DE63D}"/>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4" name="TextBox 13">
            <a:extLst>
              <a:ext uri="{FF2B5EF4-FFF2-40B4-BE49-F238E27FC236}">
                <a16:creationId xmlns:a16="http://schemas.microsoft.com/office/drawing/2014/main" id="{D5CA9705-CA97-55F9-F355-07B6AB287F5A}"/>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20" name="TextBox 19">
            <a:extLst>
              <a:ext uri="{FF2B5EF4-FFF2-40B4-BE49-F238E27FC236}">
                <a16:creationId xmlns:a16="http://schemas.microsoft.com/office/drawing/2014/main" id="{923DA457-3BC5-92B4-1AD3-6012DE4E5FF4}"/>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305388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A10F-8197-06DD-8AD7-62C27FE875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9AFEF8-84C4-4358-A070-1D854CE9AA1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26</a:t>
            </a:fld>
            <a:endParaRPr lang="en-US" dirty="0"/>
          </a:p>
        </p:txBody>
      </p:sp>
      <p:sp>
        <p:nvSpPr>
          <p:cNvPr id="3" name="Title 2">
            <a:extLst>
              <a:ext uri="{FF2B5EF4-FFF2-40B4-BE49-F238E27FC236}">
                <a16:creationId xmlns:a16="http://schemas.microsoft.com/office/drawing/2014/main" id="{A5102446-D789-6DEB-3794-1491F14544AA}"/>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AF2D8ACD-8532-482A-82AA-0D3A1F2E3BF2}"/>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pPr>
              <a:spcBef>
                <a:spcPts val="0"/>
              </a:spcBef>
            </a:pPr>
            <a:r>
              <a:rPr lang="en-US" dirty="0"/>
              <a:t>Randomized trials (controlled)</a:t>
            </a:r>
          </a:p>
          <a:p>
            <a:pPr>
              <a:spcBef>
                <a:spcPts val="0"/>
              </a:spcBef>
            </a:pPr>
            <a:r>
              <a:rPr lang="en-US" dirty="0"/>
              <a:t>Counterbalanced</a:t>
            </a:r>
          </a:p>
          <a:p>
            <a:pPr>
              <a:spcBef>
                <a:spcPts val="0"/>
              </a:spcBef>
            </a:pPr>
            <a:r>
              <a:rPr lang="en-US" dirty="0"/>
              <a:t>50% are fillers, + 4 attention checks</a:t>
            </a:r>
          </a:p>
          <a:p>
            <a:pPr>
              <a:spcBef>
                <a:spcPts val="0"/>
              </a:spcBef>
            </a:pPr>
            <a:r>
              <a:rPr lang="en-US" dirty="0"/>
              <a:t>18 items </a:t>
            </a:r>
            <a:r>
              <a:rPr lang="hu-HU" dirty="0"/>
              <a:t>×</a:t>
            </a:r>
            <a:r>
              <a:rPr lang="en-US" dirty="0"/>
              <a:t> 3 conditions = 54 sentence stimuli</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C214A97A-5AA2-D1B6-EEB6-2B5416BA9D57}"/>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286BA96-025E-8A3F-8DDC-2945EF01A88E}"/>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2E6122A0-B542-4C46-BDFC-AC1F42396249}"/>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BFD13555-2907-CA89-EF7F-8C23C8539279}"/>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C6B1901F-D1B0-8AA3-09CF-2825B75FF3F2}"/>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D52AB526-CDE2-A814-99BC-CDDC7DB161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08D23B25-624C-6FFD-CA22-8B72B6BB1716}"/>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A58D8708-9A57-04FF-BEEB-64BF91BD7E3E}"/>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79A2D2B8-06F2-3143-53EC-CED0E8D2F14C}"/>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56ABCC37-26D3-972A-EE0F-A5D0707B91F0}"/>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71A51F1F-CD26-A1A6-D3A5-178DEB0F0B2E}"/>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2A880758-5638-326B-2F43-CA3EE5CD4B5B}"/>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3069AD0-89DF-312E-A779-2B9929D1F6B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E0DB3F25-69F7-3942-0718-229603EAACD9}"/>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FE0B6E9-B5BA-5D1A-7782-50A3BFB5B27C}"/>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8CDAF7B7-18A8-92AA-4E92-8E5751ABF8C1}"/>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D9ACE5EA-894D-18BD-A74C-E17D29AC8270}"/>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45CABE31-EC41-AFC6-61B2-4339D4D879D0}"/>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DFC527EF-EC4C-8825-052B-AEB416E98A4A}"/>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5EB2A575-A053-52D0-D30A-E7A4D1C6B93D}"/>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33742E97-8398-052A-9919-7620795A4045}"/>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EC108E34-16A9-E599-EAFE-E280229C1709}"/>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341F848B-54B9-B6C2-82EC-0569EE281969}"/>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A534885D-D1D5-FEAF-05F3-7DF0E5C0D29A}"/>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1" name="TextBox 10">
            <a:extLst>
              <a:ext uri="{FF2B5EF4-FFF2-40B4-BE49-F238E27FC236}">
                <a16:creationId xmlns:a16="http://schemas.microsoft.com/office/drawing/2014/main" id="{86F32AB1-A7C1-1AA5-E46F-A02A3BD52139}"/>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14" name="TextBox 13">
            <a:extLst>
              <a:ext uri="{FF2B5EF4-FFF2-40B4-BE49-F238E27FC236}">
                <a16:creationId xmlns:a16="http://schemas.microsoft.com/office/drawing/2014/main" id="{F4A2BB51-F7EC-DE4C-36B2-99A0BE3B5DB6}"/>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4007453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719388-2495-0BE3-409B-1E8DF718B627}"/>
            </a:ext>
          </a:extLst>
        </p:cNvPr>
        <p:cNvGrpSpPr/>
        <p:nvPr/>
      </p:nvGrpSpPr>
      <p:grpSpPr>
        <a:xfrm>
          <a:off x="0" y="0"/>
          <a:ext cx="0" cy="0"/>
          <a:chOff x="0" y="0"/>
          <a:chExt cx="0" cy="0"/>
        </a:xfrm>
      </p:grpSpPr>
      <p:cxnSp>
        <p:nvCxnSpPr>
          <p:cNvPr id="6" name="Connector: Elbow 5">
            <a:extLst>
              <a:ext uri="{FF2B5EF4-FFF2-40B4-BE49-F238E27FC236}">
                <a16:creationId xmlns:a16="http://schemas.microsoft.com/office/drawing/2014/main" id="{9B55CB97-9A5B-46D1-B38F-1917B7051DA8}"/>
              </a:ext>
            </a:extLst>
          </p:cNvPr>
          <p:cNvCxnSpPr>
            <a:cxnSpLocks/>
          </p:cNvCxnSpPr>
          <p:nvPr/>
        </p:nvCxnSpPr>
        <p:spPr>
          <a:xfrm flipH="1" flipV="1">
            <a:off x="658368" y="3435260"/>
            <a:ext cx="10937750" cy="6"/>
          </a:xfrm>
          <a:prstGeom prst="bentConnector5">
            <a:avLst>
              <a:gd name="adj1" fmla="val -2090"/>
              <a:gd name="adj2" fmla="val 14706700000"/>
              <a:gd name="adj3" fmla="val 10209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EF7103CD-D1C1-75B8-1828-E3EF27EB899C}"/>
              </a:ext>
            </a:extLst>
          </p:cNvPr>
          <p:cNvSpPr/>
          <p:nvPr/>
        </p:nvSpPr>
        <p:spPr>
          <a:xfrm>
            <a:off x="5771013" y="21693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3" name="Rectangle: Rounded Corners 32">
            <a:extLst>
              <a:ext uri="{FF2B5EF4-FFF2-40B4-BE49-F238E27FC236}">
                <a16:creationId xmlns:a16="http://schemas.microsoft.com/office/drawing/2014/main" id="{A3270C24-8533-4A60-D341-F13ED0798F0A}"/>
              </a:ext>
            </a:extLst>
          </p:cNvPr>
          <p:cNvSpPr/>
          <p:nvPr/>
        </p:nvSpPr>
        <p:spPr>
          <a:xfrm>
            <a:off x="5669413" y="22608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2" name="Rectangle: Rounded Corners 31">
            <a:extLst>
              <a:ext uri="{FF2B5EF4-FFF2-40B4-BE49-F238E27FC236}">
                <a16:creationId xmlns:a16="http://schemas.microsoft.com/office/drawing/2014/main" id="{9B3E127A-3C55-2057-38B0-144AD60FAD69}"/>
              </a:ext>
            </a:extLst>
          </p:cNvPr>
          <p:cNvSpPr/>
          <p:nvPr/>
        </p:nvSpPr>
        <p:spPr>
          <a:xfrm>
            <a:off x="5561461" y="23648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2" name="Slide Number Placeholder 1">
            <a:extLst>
              <a:ext uri="{FF2B5EF4-FFF2-40B4-BE49-F238E27FC236}">
                <a16:creationId xmlns:a16="http://schemas.microsoft.com/office/drawing/2014/main" id="{B2780DB3-49C9-8918-D048-130A8764C628}"/>
              </a:ext>
            </a:extLst>
          </p:cNvPr>
          <p:cNvSpPr>
            <a:spLocks noGrp="1"/>
          </p:cNvSpPr>
          <p:nvPr>
            <p:ph type="sldNum" sz="quarter" idx="12"/>
          </p:nvPr>
        </p:nvSpPr>
        <p:spPr>
          <a:xfrm>
            <a:off x="11292840" y="6639560"/>
            <a:ext cx="914400" cy="593725"/>
          </a:xfrm>
        </p:spPr>
        <p:txBody>
          <a:bodyPr>
            <a:normAutofit/>
          </a:bodyPr>
          <a:lstStyle/>
          <a:p>
            <a:fld id="{D57F1E4F-1CFF-5643-939E-217C01CDF565}" type="slidenum">
              <a:rPr lang="en-US" sz="3200" smtClean="0">
                <a:latin typeface="Times New Roman" panose="02020603050405020304" pitchFamily="18" charset="0"/>
                <a:cs typeface="Times New Roman" panose="02020603050405020304" pitchFamily="18" charset="0"/>
              </a:rPr>
              <a:pPr/>
              <a:t>27</a:t>
            </a:fld>
            <a:endParaRPr lang="en-US" sz="32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4F6A5E9B-5249-FD7D-BE05-FAA948D4AC2A}"/>
              </a:ext>
            </a:extLst>
          </p:cNvPr>
          <p:cNvSpPr/>
          <p:nvPr/>
        </p:nvSpPr>
        <p:spPr>
          <a:xfrm>
            <a:off x="6583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B8360833-C71C-48D2-15F4-725E8AE9D516}"/>
              </a:ext>
            </a:extLst>
          </p:cNvPr>
          <p:cNvSpPr/>
          <p:nvPr/>
        </p:nvSpPr>
        <p:spPr>
          <a:xfrm>
            <a:off x="29062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6C9B34B-E509-0C5D-9C2C-10019F2FE336}"/>
              </a:ext>
            </a:extLst>
          </p:cNvPr>
          <p:cNvSpPr txBox="1"/>
          <p:nvPr/>
        </p:nvSpPr>
        <p:spPr>
          <a:xfrm>
            <a:off x="1317301"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F98CDC0-20AE-766E-B3FE-4F78F80F08EC}"/>
              </a:ext>
            </a:extLst>
          </p:cNvPr>
          <p:cNvSpPr txBox="1"/>
          <p:nvPr/>
        </p:nvSpPr>
        <p:spPr>
          <a:xfrm>
            <a:off x="35661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68CC0E58-7423-9219-2344-8803AAB00FB1}"/>
              </a:ext>
            </a:extLst>
          </p:cNvPr>
          <p:cNvSpPr txBox="1"/>
          <p:nvPr/>
        </p:nvSpPr>
        <p:spPr>
          <a:xfrm>
            <a:off x="5780655"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F0C6ADD-878E-A1AB-6B01-83752540DBB6}"/>
              </a:ext>
            </a:extLst>
          </p:cNvPr>
          <p:cNvSpPr txBox="1"/>
          <p:nvPr/>
        </p:nvSpPr>
        <p:spPr>
          <a:xfrm>
            <a:off x="8037576" y="3156732"/>
            <a:ext cx="618744" cy="461665"/>
          </a:xfrm>
          <a:prstGeom prst="rect">
            <a:avLst/>
          </a:prstGeom>
          <a:noFill/>
        </p:spPr>
        <p:txBody>
          <a:bodyPr wrap="square" anchor="t">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27" name="Rectangle: Rounded Corners 26">
            <a:extLst>
              <a:ext uri="{FF2B5EF4-FFF2-40B4-BE49-F238E27FC236}">
                <a16:creationId xmlns:a16="http://schemas.microsoft.com/office/drawing/2014/main" id="{33644C4D-A7F1-4083-56FA-9F595F4FD9ED}"/>
              </a:ext>
            </a:extLst>
          </p:cNvPr>
          <p:cNvSpPr/>
          <p:nvPr/>
        </p:nvSpPr>
        <p:spPr>
          <a:xfrm>
            <a:off x="9657590" y="2789930"/>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88E1A19-B0DF-6E88-B83D-910BBE12662A}"/>
              </a:ext>
            </a:extLst>
          </p:cNvPr>
          <p:cNvSpPr txBox="1"/>
          <p:nvPr/>
        </p:nvSpPr>
        <p:spPr>
          <a:xfrm>
            <a:off x="1098804" y="2783283"/>
            <a:ext cx="105003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Preview</a:t>
            </a:r>
          </a:p>
        </p:txBody>
      </p:sp>
      <p:sp>
        <p:nvSpPr>
          <p:cNvPr id="31" name="TextBox 30">
            <a:extLst>
              <a:ext uri="{FF2B5EF4-FFF2-40B4-BE49-F238E27FC236}">
                <a16:creationId xmlns:a16="http://schemas.microsoft.com/office/drawing/2014/main" id="{C6268624-C9E4-C8B4-9262-A004A6A4669D}"/>
              </a:ext>
            </a:extLst>
          </p:cNvPr>
          <p:cNvSpPr txBox="1"/>
          <p:nvPr/>
        </p:nvSpPr>
        <p:spPr>
          <a:xfrm>
            <a:off x="9657590" y="2787400"/>
            <a:ext cx="1938526"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Choice</a:t>
            </a:r>
          </a:p>
        </p:txBody>
      </p:sp>
      <p:sp>
        <p:nvSpPr>
          <p:cNvPr id="34" name="TextBox 33">
            <a:extLst>
              <a:ext uri="{FF2B5EF4-FFF2-40B4-BE49-F238E27FC236}">
                <a16:creationId xmlns:a16="http://schemas.microsoft.com/office/drawing/2014/main" id="{3D0A1EB4-9AB0-2511-5917-48D8E73B2E90}"/>
              </a:ext>
            </a:extLst>
          </p:cNvPr>
          <p:cNvSpPr txBox="1"/>
          <p:nvPr/>
        </p:nvSpPr>
        <p:spPr>
          <a:xfrm>
            <a:off x="10312146" y="4114948"/>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3B39A19-A47F-D1ED-B603-2C13038FEF54}"/>
              </a:ext>
            </a:extLst>
          </p:cNvPr>
          <p:cNvSpPr txBox="1"/>
          <p:nvPr/>
        </p:nvSpPr>
        <p:spPr>
          <a:xfrm>
            <a:off x="9657589" y="3716716"/>
            <a:ext cx="1938527" cy="373797"/>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(ET)</a:t>
            </a:r>
          </a:p>
        </p:txBody>
      </p:sp>
      <p:sp>
        <p:nvSpPr>
          <p:cNvPr id="14" name="TextBox 13">
            <a:extLst>
              <a:ext uri="{FF2B5EF4-FFF2-40B4-BE49-F238E27FC236}">
                <a16:creationId xmlns:a16="http://schemas.microsoft.com/office/drawing/2014/main" id="{4B3ECD1C-B7D6-296A-9ECE-FBF0AEBD6C84}"/>
              </a:ext>
            </a:extLst>
          </p:cNvPr>
          <p:cNvSpPr txBox="1"/>
          <p:nvPr/>
        </p:nvSpPr>
        <p:spPr>
          <a:xfrm>
            <a:off x="2489072" y="3151268"/>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cxnSp>
        <p:nvCxnSpPr>
          <p:cNvPr id="36" name="Straight Arrow Connector 35">
            <a:extLst>
              <a:ext uri="{FF2B5EF4-FFF2-40B4-BE49-F238E27FC236}">
                <a16:creationId xmlns:a16="http://schemas.microsoft.com/office/drawing/2014/main" id="{914565EA-17CD-66F2-BC3A-7682D69F51D5}"/>
              </a:ext>
            </a:extLst>
          </p:cNvPr>
          <p:cNvCxnSpPr>
            <a:cxnSpLocks/>
          </p:cNvCxnSpPr>
          <p:nvPr/>
        </p:nvCxnSpPr>
        <p:spPr>
          <a:xfrm flipV="1">
            <a:off x="466344" y="4495823"/>
            <a:ext cx="11382756" cy="222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2EF05F5-D384-4B40-C057-BBEB90F80DDA}"/>
              </a:ext>
            </a:extLst>
          </p:cNvPr>
          <p:cNvSpPr/>
          <p:nvPr/>
        </p:nvSpPr>
        <p:spPr>
          <a:xfrm>
            <a:off x="5467864" y="2465959"/>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1" name="Rectangle: Rounded Corners 10">
            <a:extLst>
              <a:ext uri="{FF2B5EF4-FFF2-40B4-BE49-F238E27FC236}">
                <a16:creationId xmlns:a16="http://schemas.microsoft.com/office/drawing/2014/main" id="{D3FC7D91-56B7-AE47-91BD-2B40D3EEE225}"/>
              </a:ext>
            </a:extLst>
          </p:cNvPr>
          <p:cNvSpPr/>
          <p:nvPr/>
        </p:nvSpPr>
        <p:spPr>
          <a:xfrm>
            <a:off x="5370072" y="257464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9" name="Rectangle: Rounded Corners 8">
            <a:extLst>
              <a:ext uri="{FF2B5EF4-FFF2-40B4-BE49-F238E27FC236}">
                <a16:creationId xmlns:a16="http://schemas.microsoft.com/office/drawing/2014/main" id="{1C6811DB-F6C9-16B2-E14D-E524D300F777}"/>
              </a:ext>
            </a:extLst>
          </p:cNvPr>
          <p:cNvSpPr/>
          <p:nvPr/>
        </p:nvSpPr>
        <p:spPr>
          <a:xfrm>
            <a:off x="5251960" y="268138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8" name="Rectangle: Rounded Corners 17">
            <a:extLst>
              <a:ext uri="{FF2B5EF4-FFF2-40B4-BE49-F238E27FC236}">
                <a16:creationId xmlns:a16="http://schemas.microsoft.com/office/drawing/2014/main" id="{D5560261-EAD5-8EFB-56B7-65A398E22E4D}"/>
              </a:ext>
            </a:extLst>
          </p:cNvPr>
          <p:cNvSpPr/>
          <p:nvPr/>
        </p:nvSpPr>
        <p:spPr>
          <a:xfrm>
            <a:off x="5154168"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br>
              <a:rPr lang="en-US" dirty="0">
                <a:solidFill>
                  <a:schemeClr val="tx1"/>
                </a:solidFill>
                <a:latin typeface="Times New Roman" panose="02020603050405020304" pitchFamily="18" charset="0"/>
                <a:cs typeface="Times New Roman" panose="02020603050405020304" pitchFamily="18" charset="0"/>
              </a:rPr>
            </a:br>
            <a:endParaRPr lang="en-US" dirty="0">
              <a:solidFill>
                <a:schemeClr val="tx1"/>
              </a:solidFill>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7A4974A6-90BA-A2A5-E495-50212652F46B}"/>
              </a:ext>
            </a:extLst>
          </p:cNvPr>
          <p:cNvSpPr/>
          <p:nvPr/>
        </p:nvSpPr>
        <p:spPr>
          <a:xfrm>
            <a:off x="7405879"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363A5C8D-1F4E-3FFE-F903-97F8FB454479}"/>
              </a:ext>
            </a:extLst>
          </p:cNvPr>
          <p:cNvSpPr txBox="1"/>
          <p:nvPr/>
        </p:nvSpPr>
        <p:spPr>
          <a:xfrm>
            <a:off x="80619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39" name="TextBox 38">
            <a:extLst>
              <a:ext uri="{FF2B5EF4-FFF2-40B4-BE49-F238E27FC236}">
                <a16:creationId xmlns:a16="http://schemas.microsoft.com/office/drawing/2014/main" id="{9C1E97E1-1A53-B1E1-7A05-3715D4A020AA}"/>
              </a:ext>
            </a:extLst>
          </p:cNvPr>
          <p:cNvSpPr txBox="1"/>
          <p:nvPr/>
        </p:nvSpPr>
        <p:spPr>
          <a:xfrm>
            <a:off x="8593668" y="1943700"/>
            <a:ext cx="3002448" cy="584775"/>
          </a:xfrm>
          <a:prstGeom prst="rect">
            <a:avLst/>
          </a:prstGeom>
          <a:noFill/>
        </p:spPr>
        <p:txBody>
          <a:bodyPr wrap="square">
            <a:spAutoFit/>
          </a:bodyPr>
          <a:lstStyle/>
          <a:p>
            <a:pPr algn="r"/>
            <a:r>
              <a:rPr lang="en-US" sz="1600" dirty="0">
                <a:latin typeface="Times New Roman" panose="02020603050405020304" pitchFamily="18" charset="0"/>
                <a:cs typeface="Times New Roman" panose="02020603050405020304" pitchFamily="18" charset="0"/>
              </a:rPr>
              <a:t>= spacebar to advance</a:t>
            </a:r>
            <a:br>
              <a:rPr lang="en-US" sz="1600" dirty="0">
                <a:latin typeface="Times New Roman" panose="02020603050405020304" pitchFamily="18" charset="0"/>
                <a:cs typeface="Times New Roman" panose="02020603050405020304" pitchFamily="18" charset="0"/>
              </a:rPr>
            </a:br>
            <a:r>
              <a:rPr lang="hu-H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 mouse click to chose</a:t>
            </a:r>
          </a:p>
        </p:txBody>
      </p:sp>
      <p:sp>
        <p:nvSpPr>
          <p:cNvPr id="41" name="Rectangle: Rounded Corners 40">
            <a:extLst>
              <a:ext uri="{FF2B5EF4-FFF2-40B4-BE49-F238E27FC236}">
                <a16:creationId xmlns:a16="http://schemas.microsoft.com/office/drawing/2014/main" id="{8206870A-F4CF-D32B-924C-EF7564C34683}"/>
              </a:ext>
            </a:extLst>
          </p:cNvPr>
          <p:cNvSpPr/>
          <p:nvPr/>
        </p:nvSpPr>
        <p:spPr>
          <a:xfrm>
            <a:off x="879475" y="3156732"/>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2" name="Rectangle: Rounded Corners 41">
            <a:extLst>
              <a:ext uri="{FF2B5EF4-FFF2-40B4-BE49-F238E27FC236}">
                <a16:creationId xmlns:a16="http://schemas.microsoft.com/office/drawing/2014/main" id="{9555B828-3056-87DA-F431-E1BD34D1E236}"/>
              </a:ext>
            </a:extLst>
          </p:cNvPr>
          <p:cNvSpPr/>
          <p:nvPr/>
        </p:nvSpPr>
        <p:spPr>
          <a:xfrm>
            <a:off x="1779397" y="3150755"/>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7" name="Rectangle: Rounded Corners 46">
            <a:extLst>
              <a:ext uri="{FF2B5EF4-FFF2-40B4-BE49-F238E27FC236}">
                <a16:creationId xmlns:a16="http://schemas.microsoft.com/office/drawing/2014/main" id="{2050A496-F76D-EED5-9DB5-EEABF65A8A9E}"/>
              </a:ext>
            </a:extLst>
          </p:cNvPr>
          <p:cNvSpPr/>
          <p:nvPr/>
        </p:nvSpPr>
        <p:spPr>
          <a:xfrm>
            <a:off x="9878187" y="3157170"/>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8" name="Rectangle: Rounded Corners 47">
            <a:extLst>
              <a:ext uri="{FF2B5EF4-FFF2-40B4-BE49-F238E27FC236}">
                <a16:creationId xmlns:a16="http://schemas.microsoft.com/office/drawing/2014/main" id="{3B702397-827F-59E5-4D37-AAF0AF5F8C97}"/>
              </a:ext>
            </a:extLst>
          </p:cNvPr>
          <p:cNvSpPr/>
          <p:nvPr/>
        </p:nvSpPr>
        <p:spPr>
          <a:xfrm>
            <a:off x="10778109" y="3151193"/>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9" name="TextBox 48">
            <a:extLst>
              <a:ext uri="{FF2B5EF4-FFF2-40B4-BE49-F238E27FC236}">
                <a16:creationId xmlns:a16="http://schemas.microsoft.com/office/drawing/2014/main" id="{CFE5056F-6DAF-A51A-D8A0-F9CC3A05D188}"/>
              </a:ext>
            </a:extLst>
          </p:cNvPr>
          <p:cNvSpPr txBox="1"/>
          <p:nvPr/>
        </p:nvSpPr>
        <p:spPr>
          <a:xfrm>
            <a:off x="658368" y="1957133"/>
            <a:ext cx="4450210"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SPR = Self-Paced Reading</a:t>
            </a:r>
          </a:p>
          <a:p>
            <a:r>
              <a:rPr lang="en-US" sz="1600" dirty="0">
                <a:latin typeface="Times New Roman" panose="02020603050405020304" pitchFamily="18" charset="0"/>
                <a:cs typeface="Times New Roman" panose="02020603050405020304" pitchFamily="18" charset="0"/>
              </a:rPr>
              <a:t>ET = Eye-Tracking</a:t>
            </a:r>
          </a:p>
        </p:txBody>
      </p:sp>
      <p:sp>
        <p:nvSpPr>
          <p:cNvPr id="53" name="TextBox 52">
            <a:extLst>
              <a:ext uri="{FF2B5EF4-FFF2-40B4-BE49-F238E27FC236}">
                <a16:creationId xmlns:a16="http://schemas.microsoft.com/office/drawing/2014/main" id="{0534EA3E-6F43-7D2D-BCA0-F0E8E7CCBA67}"/>
              </a:ext>
            </a:extLst>
          </p:cNvPr>
          <p:cNvSpPr txBox="1"/>
          <p:nvPr/>
        </p:nvSpPr>
        <p:spPr>
          <a:xfrm>
            <a:off x="4593267"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4" name="TextBox 53">
            <a:extLst>
              <a:ext uri="{FF2B5EF4-FFF2-40B4-BE49-F238E27FC236}">
                <a16:creationId xmlns:a16="http://schemas.microsoft.com/office/drawing/2014/main" id="{1AD72A78-59A5-D323-D175-96598112FFD6}"/>
              </a:ext>
            </a:extLst>
          </p:cNvPr>
          <p:cNvSpPr txBox="1"/>
          <p:nvPr/>
        </p:nvSpPr>
        <p:spPr>
          <a:xfrm>
            <a:off x="684821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6" name="TextBox 55">
            <a:extLst>
              <a:ext uri="{FF2B5EF4-FFF2-40B4-BE49-F238E27FC236}">
                <a16:creationId xmlns:a16="http://schemas.microsoft.com/office/drawing/2014/main" id="{A06CF241-F6DD-B380-433E-22E1093B2EAC}"/>
              </a:ext>
            </a:extLst>
          </p:cNvPr>
          <p:cNvSpPr txBox="1"/>
          <p:nvPr/>
        </p:nvSpPr>
        <p:spPr>
          <a:xfrm>
            <a:off x="7782938"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7" name="TextBox 56">
            <a:extLst>
              <a:ext uri="{FF2B5EF4-FFF2-40B4-BE49-F238E27FC236}">
                <a16:creationId xmlns:a16="http://schemas.microsoft.com/office/drawing/2014/main" id="{C8ABA965-C091-34FF-A273-1268038E0C47}"/>
              </a:ext>
            </a:extLst>
          </p:cNvPr>
          <p:cNvSpPr txBox="1"/>
          <p:nvPr/>
        </p:nvSpPr>
        <p:spPr>
          <a:xfrm>
            <a:off x="234256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8" name="TextBox 57">
            <a:extLst>
              <a:ext uri="{FF2B5EF4-FFF2-40B4-BE49-F238E27FC236}">
                <a16:creationId xmlns:a16="http://schemas.microsoft.com/office/drawing/2014/main" id="{AF03B4BA-5DAC-1ABA-C08C-ADF86864A373}"/>
              </a:ext>
            </a:extLst>
          </p:cNvPr>
          <p:cNvSpPr txBox="1"/>
          <p:nvPr/>
        </p:nvSpPr>
        <p:spPr>
          <a:xfrm>
            <a:off x="3288465"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9" name="TextBox 58">
            <a:extLst>
              <a:ext uri="{FF2B5EF4-FFF2-40B4-BE49-F238E27FC236}">
                <a16:creationId xmlns:a16="http://schemas.microsoft.com/office/drawing/2014/main" id="{B77D236C-F233-A8E5-C15D-1AEA4F839655}"/>
              </a:ext>
            </a:extLst>
          </p:cNvPr>
          <p:cNvSpPr txBox="1"/>
          <p:nvPr/>
        </p:nvSpPr>
        <p:spPr>
          <a:xfrm>
            <a:off x="9135873" y="4157643"/>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60" name="TextBox 59">
            <a:extLst>
              <a:ext uri="{FF2B5EF4-FFF2-40B4-BE49-F238E27FC236}">
                <a16:creationId xmlns:a16="http://schemas.microsoft.com/office/drawing/2014/main" id="{3786E147-8922-EE31-3F04-F6EEBAE410F6}"/>
              </a:ext>
            </a:extLst>
          </p:cNvPr>
          <p:cNvSpPr txBox="1"/>
          <p:nvPr/>
        </p:nvSpPr>
        <p:spPr>
          <a:xfrm>
            <a:off x="11304014" y="4148563"/>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66" name="TextBox 65">
            <a:extLst>
              <a:ext uri="{FF2B5EF4-FFF2-40B4-BE49-F238E27FC236}">
                <a16:creationId xmlns:a16="http://schemas.microsoft.com/office/drawing/2014/main" id="{3732A6B1-EA4D-DEC2-FB20-83437BB53E6C}"/>
              </a:ext>
            </a:extLst>
          </p:cNvPr>
          <p:cNvSpPr txBox="1"/>
          <p:nvPr/>
        </p:nvSpPr>
        <p:spPr>
          <a:xfrm>
            <a:off x="4735959"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7" name="TextBox 66">
            <a:extLst>
              <a:ext uri="{FF2B5EF4-FFF2-40B4-BE49-F238E27FC236}">
                <a16:creationId xmlns:a16="http://schemas.microsoft.com/office/drawing/2014/main" id="{51E8709C-6E18-0B70-C6C6-F48FCE5D398C}"/>
              </a:ext>
            </a:extLst>
          </p:cNvPr>
          <p:cNvSpPr txBox="1"/>
          <p:nvPr/>
        </p:nvSpPr>
        <p:spPr>
          <a:xfrm>
            <a:off x="6980687"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8" name="TextBox 67">
            <a:extLst>
              <a:ext uri="{FF2B5EF4-FFF2-40B4-BE49-F238E27FC236}">
                <a16:creationId xmlns:a16="http://schemas.microsoft.com/office/drawing/2014/main" id="{ECA29458-D7F5-EAB3-6516-0D9A4A4828AB}"/>
              </a:ext>
            </a:extLst>
          </p:cNvPr>
          <p:cNvSpPr txBox="1"/>
          <p:nvPr/>
        </p:nvSpPr>
        <p:spPr>
          <a:xfrm>
            <a:off x="9235884" y="3157170"/>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70" name="TextBox 69">
            <a:extLst>
              <a:ext uri="{FF2B5EF4-FFF2-40B4-BE49-F238E27FC236}">
                <a16:creationId xmlns:a16="http://schemas.microsoft.com/office/drawing/2014/main" id="{C67327B1-962A-4B08-C9A1-BB4A00C2E138}"/>
              </a:ext>
            </a:extLst>
          </p:cNvPr>
          <p:cNvSpPr txBox="1"/>
          <p:nvPr/>
        </p:nvSpPr>
        <p:spPr>
          <a:xfrm>
            <a:off x="9344408" y="1848901"/>
            <a:ext cx="383792" cy="369332"/>
          </a:xfrm>
          <a:prstGeom prst="rect">
            <a:avLst/>
          </a:prstGeom>
          <a:noFill/>
        </p:spPr>
        <p:txBody>
          <a:bodyPr wrap="square">
            <a:spAutoFit/>
          </a:bodyPr>
          <a:lstStyle/>
          <a:p>
            <a:r>
              <a:rPr lang="hu-HU" sz="1800" dirty="0">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423895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CC37F-4488-944C-E779-0CBEAE02EF56}"/>
            </a:ext>
          </a:extLst>
        </p:cNvPr>
        <p:cNvGrpSpPr/>
        <p:nvPr/>
      </p:nvGrpSpPr>
      <p:grpSpPr>
        <a:xfrm>
          <a:off x="0" y="0"/>
          <a:ext cx="0" cy="0"/>
          <a:chOff x="0" y="0"/>
          <a:chExt cx="0" cy="0"/>
        </a:xfrm>
      </p:grpSpPr>
      <p:cxnSp>
        <p:nvCxnSpPr>
          <p:cNvPr id="6" name="Connector: Elbow 5">
            <a:extLst>
              <a:ext uri="{FF2B5EF4-FFF2-40B4-BE49-F238E27FC236}">
                <a16:creationId xmlns:a16="http://schemas.microsoft.com/office/drawing/2014/main" id="{E63B4954-82EA-ACF0-A080-7C02648BA444}"/>
              </a:ext>
            </a:extLst>
          </p:cNvPr>
          <p:cNvCxnSpPr>
            <a:cxnSpLocks/>
          </p:cNvCxnSpPr>
          <p:nvPr/>
        </p:nvCxnSpPr>
        <p:spPr>
          <a:xfrm flipH="1" flipV="1">
            <a:off x="658368" y="3435260"/>
            <a:ext cx="10937750" cy="6"/>
          </a:xfrm>
          <a:prstGeom prst="bentConnector5">
            <a:avLst>
              <a:gd name="adj1" fmla="val -2090"/>
              <a:gd name="adj2" fmla="val 14706700000"/>
              <a:gd name="adj3" fmla="val 10209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52ECF5CE-06B9-1B0C-3B31-F4F2B703A65B}"/>
              </a:ext>
            </a:extLst>
          </p:cNvPr>
          <p:cNvSpPr/>
          <p:nvPr/>
        </p:nvSpPr>
        <p:spPr>
          <a:xfrm>
            <a:off x="5771013" y="216939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3" name="Rectangle: Rounded Corners 32">
            <a:extLst>
              <a:ext uri="{FF2B5EF4-FFF2-40B4-BE49-F238E27FC236}">
                <a16:creationId xmlns:a16="http://schemas.microsoft.com/office/drawing/2014/main" id="{CC9B5B7A-AE2B-DDDF-5994-D24BE96A960C}"/>
              </a:ext>
            </a:extLst>
          </p:cNvPr>
          <p:cNvSpPr/>
          <p:nvPr/>
        </p:nvSpPr>
        <p:spPr>
          <a:xfrm>
            <a:off x="5669413" y="226083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2" name="Rectangle: Rounded Corners 31">
            <a:extLst>
              <a:ext uri="{FF2B5EF4-FFF2-40B4-BE49-F238E27FC236}">
                <a16:creationId xmlns:a16="http://schemas.microsoft.com/office/drawing/2014/main" id="{83D236AB-9627-F114-683A-968A9065D04C}"/>
              </a:ext>
            </a:extLst>
          </p:cNvPr>
          <p:cNvSpPr/>
          <p:nvPr/>
        </p:nvSpPr>
        <p:spPr>
          <a:xfrm>
            <a:off x="5561461" y="236489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2" name="Slide Number Placeholder 1">
            <a:extLst>
              <a:ext uri="{FF2B5EF4-FFF2-40B4-BE49-F238E27FC236}">
                <a16:creationId xmlns:a16="http://schemas.microsoft.com/office/drawing/2014/main" id="{4D09474E-E1F9-8ACD-BDAC-EA5C9FE76113}"/>
              </a:ext>
            </a:extLst>
          </p:cNvPr>
          <p:cNvSpPr>
            <a:spLocks noGrp="1"/>
          </p:cNvSpPr>
          <p:nvPr>
            <p:ph type="sldNum" sz="quarter" idx="12"/>
          </p:nvPr>
        </p:nvSpPr>
        <p:spPr>
          <a:xfrm>
            <a:off x="11292840" y="6639560"/>
            <a:ext cx="914400" cy="593725"/>
          </a:xfrm>
        </p:spPr>
        <p:txBody>
          <a:bodyPr>
            <a:normAutofit/>
          </a:bodyPr>
          <a:lstStyle/>
          <a:p>
            <a:fld id="{D57F1E4F-1CFF-5643-939E-217C01CDF565}" type="slidenum">
              <a:rPr lang="en-US" sz="3200" smtClean="0">
                <a:latin typeface="Times New Roman" panose="02020603050405020304" pitchFamily="18" charset="0"/>
                <a:cs typeface="Times New Roman" panose="02020603050405020304" pitchFamily="18" charset="0"/>
              </a:rPr>
              <a:pPr/>
              <a:t>28</a:t>
            </a:fld>
            <a:endParaRPr lang="en-US" sz="32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C342523D-37D3-952F-B215-30D151208BBF}"/>
              </a:ext>
            </a:extLst>
          </p:cNvPr>
          <p:cNvSpPr/>
          <p:nvPr/>
        </p:nvSpPr>
        <p:spPr>
          <a:xfrm>
            <a:off x="658368" y="2789936"/>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0D14F74E-6698-1A64-B7FC-0BE28D15C1CF}"/>
              </a:ext>
            </a:extLst>
          </p:cNvPr>
          <p:cNvSpPr/>
          <p:nvPr/>
        </p:nvSpPr>
        <p:spPr>
          <a:xfrm>
            <a:off x="2906268" y="2789936"/>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0568D43-C5F6-538E-9444-39C7182C2BD4}"/>
              </a:ext>
            </a:extLst>
          </p:cNvPr>
          <p:cNvSpPr txBox="1"/>
          <p:nvPr/>
        </p:nvSpPr>
        <p:spPr>
          <a:xfrm>
            <a:off x="1317301"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08E4C8C-E873-59E2-7AE6-E26E1A49DD27}"/>
              </a:ext>
            </a:extLst>
          </p:cNvPr>
          <p:cNvSpPr txBox="1"/>
          <p:nvPr/>
        </p:nvSpPr>
        <p:spPr>
          <a:xfrm>
            <a:off x="35661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BEA7F9A3-F176-EA51-D677-12675AC10E1B}"/>
              </a:ext>
            </a:extLst>
          </p:cNvPr>
          <p:cNvSpPr txBox="1"/>
          <p:nvPr/>
        </p:nvSpPr>
        <p:spPr>
          <a:xfrm>
            <a:off x="5780655"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1535301A-6883-2B8E-9F17-2D5E51893219}"/>
              </a:ext>
            </a:extLst>
          </p:cNvPr>
          <p:cNvSpPr txBox="1"/>
          <p:nvPr/>
        </p:nvSpPr>
        <p:spPr>
          <a:xfrm>
            <a:off x="8037576" y="3156732"/>
            <a:ext cx="618744" cy="461665"/>
          </a:xfrm>
          <a:prstGeom prst="rect">
            <a:avLst/>
          </a:prstGeom>
          <a:noFill/>
        </p:spPr>
        <p:txBody>
          <a:bodyPr wrap="square" anchor="t">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27" name="Rectangle: Rounded Corners 26">
            <a:extLst>
              <a:ext uri="{FF2B5EF4-FFF2-40B4-BE49-F238E27FC236}">
                <a16:creationId xmlns:a16="http://schemas.microsoft.com/office/drawing/2014/main" id="{65AD63B5-7890-3568-9948-A45937FD24A0}"/>
              </a:ext>
            </a:extLst>
          </p:cNvPr>
          <p:cNvSpPr/>
          <p:nvPr/>
        </p:nvSpPr>
        <p:spPr>
          <a:xfrm>
            <a:off x="9657590" y="2789930"/>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B8DF6D65-94A8-6CBF-9B9A-978E238B9CD6}"/>
              </a:ext>
            </a:extLst>
          </p:cNvPr>
          <p:cNvSpPr txBox="1"/>
          <p:nvPr/>
        </p:nvSpPr>
        <p:spPr>
          <a:xfrm>
            <a:off x="1098804" y="2783283"/>
            <a:ext cx="105003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Preview</a:t>
            </a:r>
          </a:p>
        </p:txBody>
      </p:sp>
      <p:sp>
        <p:nvSpPr>
          <p:cNvPr id="31" name="TextBox 30">
            <a:extLst>
              <a:ext uri="{FF2B5EF4-FFF2-40B4-BE49-F238E27FC236}">
                <a16:creationId xmlns:a16="http://schemas.microsoft.com/office/drawing/2014/main" id="{B94E816B-394C-A370-B6C0-9EA4A5E8850F}"/>
              </a:ext>
            </a:extLst>
          </p:cNvPr>
          <p:cNvSpPr txBox="1"/>
          <p:nvPr/>
        </p:nvSpPr>
        <p:spPr>
          <a:xfrm>
            <a:off x="9657590" y="2787400"/>
            <a:ext cx="1938526"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Choice</a:t>
            </a:r>
          </a:p>
        </p:txBody>
      </p:sp>
      <p:sp>
        <p:nvSpPr>
          <p:cNvPr id="34" name="TextBox 33">
            <a:extLst>
              <a:ext uri="{FF2B5EF4-FFF2-40B4-BE49-F238E27FC236}">
                <a16:creationId xmlns:a16="http://schemas.microsoft.com/office/drawing/2014/main" id="{AEA5FBF4-CECE-D45A-5096-958D45AC2186}"/>
              </a:ext>
            </a:extLst>
          </p:cNvPr>
          <p:cNvSpPr txBox="1"/>
          <p:nvPr/>
        </p:nvSpPr>
        <p:spPr>
          <a:xfrm>
            <a:off x="10312146" y="4114948"/>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5F379549-8E17-6A96-9CDE-01E755648F75}"/>
              </a:ext>
            </a:extLst>
          </p:cNvPr>
          <p:cNvSpPr txBox="1"/>
          <p:nvPr/>
        </p:nvSpPr>
        <p:spPr>
          <a:xfrm>
            <a:off x="9657589" y="3716716"/>
            <a:ext cx="1938527" cy="373797"/>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(ET)</a:t>
            </a:r>
          </a:p>
        </p:txBody>
      </p:sp>
      <p:sp>
        <p:nvSpPr>
          <p:cNvPr id="14" name="TextBox 13">
            <a:extLst>
              <a:ext uri="{FF2B5EF4-FFF2-40B4-BE49-F238E27FC236}">
                <a16:creationId xmlns:a16="http://schemas.microsoft.com/office/drawing/2014/main" id="{3F39672A-3C05-49DF-8B3F-9BC0953138FF}"/>
              </a:ext>
            </a:extLst>
          </p:cNvPr>
          <p:cNvSpPr txBox="1"/>
          <p:nvPr/>
        </p:nvSpPr>
        <p:spPr>
          <a:xfrm>
            <a:off x="2489072" y="3151268"/>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cxnSp>
        <p:nvCxnSpPr>
          <p:cNvPr id="36" name="Straight Arrow Connector 35">
            <a:extLst>
              <a:ext uri="{FF2B5EF4-FFF2-40B4-BE49-F238E27FC236}">
                <a16:creationId xmlns:a16="http://schemas.microsoft.com/office/drawing/2014/main" id="{31ED76CC-CF9A-8239-0A83-EF65392D75DF}"/>
              </a:ext>
            </a:extLst>
          </p:cNvPr>
          <p:cNvCxnSpPr>
            <a:cxnSpLocks/>
          </p:cNvCxnSpPr>
          <p:nvPr/>
        </p:nvCxnSpPr>
        <p:spPr>
          <a:xfrm flipV="1">
            <a:off x="466344" y="4495823"/>
            <a:ext cx="11382756" cy="222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F68F23E4-0A99-C37D-E42B-B358C56B3169}"/>
              </a:ext>
            </a:extLst>
          </p:cNvPr>
          <p:cNvSpPr/>
          <p:nvPr/>
        </p:nvSpPr>
        <p:spPr>
          <a:xfrm>
            <a:off x="5467864" y="2465959"/>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1" name="Rectangle: Rounded Corners 10">
            <a:extLst>
              <a:ext uri="{FF2B5EF4-FFF2-40B4-BE49-F238E27FC236}">
                <a16:creationId xmlns:a16="http://schemas.microsoft.com/office/drawing/2014/main" id="{2E725E4A-B172-090C-24FB-AA82E4768DDF}"/>
              </a:ext>
            </a:extLst>
          </p:cNvPr>
          <p:cNvSpPr/>
          <p:nvPr/>
        </p:nvSpPr>
        <p:spPr>
          <a:xfrm>
            <a:off x="5370072" y="257464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9" name="Rectangle: Rounded Corners 8">
            <a:extLst>
              <a:ext uri="{FF2B5EF4-FFF2-40B4-BE49-F238E27FC236}">
                <a16:creationId xmlns:a16="http://schemas.microsoft.com/office/drawing/2014/main" id="{1D5DEDF1-AED4-D92E-2C2E-4B506EE7A56B}"/>
              </a:ext>
            </a:extLst>
          </p:cNvPr>
          <p:cNvSpPr/>
          <p:nvPr/>
        </p:nvSpPr>
        <p:spPr>
          <a:xfrm>
            <a:off x="5251960" y="268138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8" name="Rectangle: Rounded Corners 17">
            <a:extLst>
              <a:ext uri="{FF2B5EF4-FFF2-40B4-BE49-F238E27FC236}">
                <a16:creationId xmlns:a16="http://schemas.microsoft.com/office/drawing/2014/main" id="{A7059E0C-06D7-BCDC-052F-593D78345F51}"/>
              </a:ext>
            </a:extLst>
          </p:cNvPr>
          <p:cNvSpPr/>
          <p:nvPr/>
        </p:nvSpPr>
        <p:spPr>
          <a:xfrm>
            <a:off x="5154168" y="278993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br>
              <a:rPr lang="en-US" dirty="0">
                <a:solidFill>
                  <a:schemeClr val="tx1"/>
                </a:solidFill>
                <a:latin typeface="Times New Roman" panose="02020603050405020304" pitchFamily="18" charset="0"/>
                <a:cs typeface="Times New Roman" panose="02020603050405020304" pitchFamily="18" charset="0"/>
              </a:rPr>
            </a:br>
            <a:endParaRPr lang="en-US" dirty="0">
              <a:solidFill>
                <a:schemeClr val="tx1"/>
              </a:solidFill>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7D89940C-7480-EED8-978A-1263F4406B2B}"/>
              </a:ext>
            </a:extLst>
          </p:cNvPr>
          <p:cNvSpPr/>
          <p:nvPr/>
        </p:nvSpPr>
        <p:spPr>
          <a:xfrm>
            <a:off x="7405879" y="2789931"/>
            <a:ext cx="1938528" cy="1307592"/>
          </a:xfrm>
          <a:prstGeom prst="roundRect">
            <a:avLst/>
          </a:prstGeom>
          <a:solidFill>
            <a:srgbClr val="FFFFFF"/>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F09C9B0D-08F9-216E-D0F8-4EA392FB65F7}"/>
              </a:ext>
            </a:extLst>
          </p:cNvPr>
          <p:cNvSpPr txBox="1"/>
          <p:nvPr/>
        </p:nvSpPr>
        <p:spPr>
          <a:xfrm>
            <a:off x="80619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39" name="TextBox 38">
            <a:extLst>
              <a:ext uri="{FF2B5EF4-FFF2-40B4-BE49-F238E27FC236}">
                <a16:creationId xmlns:a16="http://schemas.microsoft.com/office/drawing/2014/main" id="{FD491E32-17FF-9068-2EDC-31D957B3E773}"/>
              </a:ext>
            </a:extLst>
          </p:cNvPr>
          <p:cNvSpPr txBox="1"/>
          <p:nvPr/>
        </p:nvSpPr>
        <p:spPr>
          <a:xfrm>
            <a:off x="8593668" y="1943700"/>
            <a:ext cx="3002448" cy="584775"/>
          </a:xfrm>
          <a:prstGeom prst="rect">
            <a:avLst/>
          </a:prstGeom>
          <a:noFill/>
        </p:spPr>
        <p:txBody>
          <a:bodyPr wrap="square">
            <a:spAutoFit/>
          </a:bodyPr>
          <a:lstStyle/>
          <a:p>
            <a:pPr algn="r"/>
            <a:r>
              <a:rPr lang="en-US" sz="1600" dirty="0">
                <a:latin typeface="Times New Roman" panose="02020603050405020304" pitchFamily="18" charset="0"/>
                <a:cs typeface="Times New Roman" panose="02020603050405020304" pitchFamily="18" charset="0"/>
              </a:rPr>
              <a:t>= spacebar to advance</a:t>
            </a:r>
            <a:br>
              <a:rPr lang="en-US" sz="1600" dirty="0">
                <a:latin typeface="Times New Roman" panose="02020603050405020304" pitchFamily="18" charset="0"/>
                <a:cs typeface="Times New Roman" panose="02020603050405020304" pitchFamily="18" charset="0"/>
              </a:rPr>
            </a:br>
            <a:r>
              <a:rPr lang="hu-H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 mouse click to chose</a:t>
            </a:r>
          </a:p>
        </p:txBody>
      </p:sp>
      <p:sp>
        <p:nvSpPr>
          <p:cNvPr id="41" name="Rectangle: Rounded Corners 40">
            <a:extLst>
              <a:ext uri="{FF2B5EF4-FFF2-40B4-BE49-F238E27FC236}">
                <a16:creationId xmlns:a16="http://schemas.microsoft.com/office/drawing/2014/main" id="{D24FED49-4FFE-5627-6962-94495AFDB156}"/>
              </a:ext>
            </a:extLst>
          </p:cNvPr>
          <p:cNvSpPr/>
          <p:nvPr/>
        </p:nvSpPr>
        <p:spPr>
          <a:xfrm>
            <a:off x="879475" y="3156732"/>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2" name="Rectangle: Rounded Corners 41">
            <a:extLst>
              <a:ext uri="{FF2B5EF4-FFF2-40B4-BE49-F238E27FC236}">
                <a16:creationId xmlns:a16="http://schemas.microsoft.com/office/drawing/2014/main" id="{CACB7800-D77B-87D9-A8A8-10C6CA3AF9BF}"/>
              </a:ext>
            </a:extLst>
          </p:cNvPr>
          <p:cNvSpPr/>
          <p:nvPr/>
        </p:nvSpPr>
        <p:spPr>
          <a:xfrm>
            <a:off x="1779397" y="3150755"/>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7" name="Rectangle: Rounded Corners 46">
            <a:extLst>
              <a:ext uri="{FF2B5EF4-FFF2-40B4-BE49-F238E27FC236}">
                <a16:creationId xmlns:a16="http://schemas.microsoft.com/office/drawing/2014/main" id="{87B31EDF-EA39-21DB-4FC5-FDA7A82405CA}"/>
              </a:ext>
            </a:extLst>
          </p:cNvPr>
          <p:cNvSpPr/>
          <p:nvPr/>
        </p:nvSpPr>
        <p:spPr>
          <a:xfrm>
            <a:off x="9878187" y="3157170"/>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8" name="Rectangle: Rounded Corners 47">
            <a:extLst>
              <a:ext uri="{FF2B5EF4-FFF2-40B4-BE49-F238E27FC236}">
                <a16:creationId xmlns:a16="http://schemas.microsoft.com/office/drawing/2014/main" id="{CCD57B91-CEDE-3514-E86A-30F2BB2BBCD3}"/>
              </a:ext>
            </a:extLst>
          </p:cNvPr>
          <p:cNvSpPr/>
          <p:nvPr/>
        </p:nvSpPr>
        <p:spPr>
          <a:xfrm>
            <a:off x="10778109" y="3151193"/>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9" name="TextBox 48">
            <a:extLst>
              <a:ext uri="{FF2B5EF4-FFF2-40B4-BE49-F238E27FC236}">
                <a16:creationId xmlns:a16="http://schemas.microsoft.com/office/drawing/2014/main" id="{901F113D-1330-63DD-4552-262FE4D2C551}"/>
              </a:ext>
            </a:extLst>
          </p:cNvPr>
          <p:cNvSpPr txBox="1"/>
          <p:nvPr/>
        </p:nvSpPr>
        <p:spPr>
          <a:xfrm>
            <a:off x="658368" y="1957133"/>
            <a:ext cx="4450210"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SPR = Self-Paced Reading</a:t>
            </a:r>
          </a:p>
          <a:p>
            <a:r>
              <a:rPr lang="en-US" sz="1600" dirty="0">
                <a:latin typeface="Times New Roman" panose="02020603050405020304" pitchFamily="18" charset="0"/>
                <a:cs typeface="Times New Roman" panose="02020603050405020304" pitchFamily="18" charset="0"/>
              </a:rPr>
              <a:t>ET = Eye-Tracking</a:t>
            </a:r>
          </a:p>
        </p:txBody>
      </p:sp>
      <p:sp>
        <p:nvSpPr>
          <p:cNvPr id="53" name="TextBox 52">
            <a:extLst>
              <a:ext uri="{FF2B5EF4-FFF2-40B4-BE49-F238E27FC236}">
                <a16:creationId xmlns:a16="http://schemas.microsoft.com/office/drawing/2014/main" id="{814BB901-B8EC-71BA-C046-DEE81DD8C931}"/>
              </a:ext>
            </a:extLst>
          </p:cNvPr>
          <p:cNvSpPr txBox="1"/>
          <p:nvPr/>
        </p:nvSpPr>
        <p:spPr>
          <a:xfrm>
            <a:off x="4593267"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4" name="TextBox 53">
            <a:extLst>
              <a:ext uri="{FF2B5EF4-FFF2-40B4-BE49-F238E27FC236}">
                <a16:creationId xmlns:a16="http://schemas.microsoft.com/office/drawing/2014/main" id="{B8E004A6-51DC-035F-16D3-B45652BE1E5E}"/>
              </a:ext>
            </a:extLst>
          </p:cNvPr>
          <p:cNvSpPr txBox="1"/>
          <p:nvPr/>
        </p:nvSpPr>
        <p:spPr>
          <a:xfrm>
            <a:off x="684821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6" name="TextBox 55">
            <a:extLst>
              <a:ext uri="{FF2B5EF4-FFF2-40B4-BE49-F238E27FC236}">
                <a16:creationId xmlns:a16="http://schemas.microsoft.com/office/drawing/2014/main" id="{CF443F7A-4D2C-2D64-3D9B-99ECB6E4E27A}"/>
              </a:ext>
            </a:extLst>
          </p:cNvPr>
          <p:cNvSpPr txBox="1"/>
          <p:nvPr/>
        </p:nvSpPr>
        <p:spPr>
          <a:xfrm>
            <a:off x="7782938"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7" name="TextBox 56">
            <a:extLst>
              <a:ext uri="{FF2B5EF4-FFF2-40B4-BE49-F238E27FC236}">
                <a16:creationId xmlns:a16="http://schemas.microsoft.com/office/drawing/2014/main" id="{20CE38C0-D1F5-366C-5214-BB319DF58D69}"/>
              </a:ext>
            </a:extLst>
          </p:cNvPr>
          <p:cNvSpPr txBox="1"/>
          <p:nvPr/>
        </p:nvSpPr>
        <p:spPr>
          <a:xfrm>
            <a:off x="234256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8" name="TextBox 57">
            <a:extLst>
              <a:ext uri="{FF2B5EF4-FFF2-40B4-BE49-F238E27FC236}">
                <a16:creationId xmlns:a16="http://schemas.microsoft.com/office/drawing/2014/main" id="{F56A8E0A-6FD7-670A-5A63-3316365C2391}"/>
              </a:ext>
            </a:extLst>
          </p:cNvPr>
          <p:cNvSpPr txBox="1"/>
          <p:nvPr/>
        </p:nvSpPr>
        <p:spPr>
          <a:xfrm>
            <a:off x="3288465"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9" name="TextBox 58">
            <a:extLst>
              <a:ext uri="{FF2B5EF4-FFF2-40B4-BE49-F238E27FC236}">
                <a16:creationId xmlns:a16="http://schemas.microsoft.com/office/drawing/2014/main" id="{7E8573BF-65D7-3B56-BFA4-47DC6F9BC7CD}"/>
              </a:ext>
            </a:extLst>
          </p:cNvPr>
          <p:cNvSpPr txBox="1"/>
          <p:nvPr/>
        </p:nvSpPr>
        <p:spPr>
          <a:xfrm>
            <a:off x="9135873" y="4157643"/>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60" name="TextBox 59">
            <a:extLst>
              <a:ext uri="{FF2B5EF4-FFF2-40B4-BE49-F238E27FC236}">
                <a16:creationId xmlns:a16="http://schemas.microsoft.com/office/drawing/2014/main" id="{61E263DB-1762-45B6-5FE1-6C12AC1DBAA5}"/>
              </a:ext>
            </a:extLst>
          </p:cNvPr>
          <p:cNvSpPr txBox="1"/>
          <p:nvPr/>
        </p:nvSpPr>
        <p:spPr>
          <a:xfrm>
            <a:off x="11031218" y="4160614"/>
            <a:ext cx="817882" cy="307777"/>
          </a:xfrm>
          <a:prstGeom prst="rect">
            <a:avLst/>
          </a:prstGeom>
          <a:noFill/>
        </p:spPr>
        <p:txBody>
          <a:bodyPr wrap="square" anchor="b">
            <a:spAutoFit/>
          </a:bodyPr>
          <a:lstStyle/>
          <a:p>
            <a:pPr algn="r"/>
            <a:r>
              <a:rPr lang="en-US" sz="1400" dirty="0">
                <a:latin typeface="Times New Roman" panose="02020603050405020304" pitchFamily="18" charset="0"/>
                <a:cs typeface="Times New Roman" panose="02020603050405020304" pitchFamily="18" charset="0"/>
              </a:rPr>
              <a:t>1000ms</a:t>
            </a:r>
          </a:p>
        </p:txBody>
      </p:sp>
      <p:sp>
        <p:nvSpPr>
          <p:cNvPr id="66" name="TextBox 65">
            <a:extLst>
              <a:ext uri="{FF2B5EF4-FFF2-40B4-BE49-F238E27FC236}">
                <a16:creationId xmlns:a16="http://schemas.microsoft.com/office/drawing/2014/main" id="{BBD5419B-31FC-73D7-F855-B90166422A21}"/>
              </a:ext>
            </a:extLst>
          </p:cNvPr>
          <p:cNvSpPr txBox="1"/>
          <p:nvPr/>
        </p:nvSpPr>
        <p:spPr>
          <a:xfrm>
            <a:off x="4735959"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7" name="TextBox 66">
            <a:extLst>
              <a:ext uri="{FF2B5EF4-FFF2-40B4-BE49-F238E27FC236}">
                <a16:creationId xmlns:a16="http://schemas.microsoft.com/office/drawing/2014/main" id="{5E50319B-6FE6-6C60-69EF-C0460D2DB08C}"/>
              </a:ext>
            </a:extLst>
          </p:cNvPr>
          <p:cNvSpPr txBox="1"/>
          <p:nvPr/>
        </p:nvSpPr>
        <p:spPr>
          <a:xfrm>
            <a:off x="6980687"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8" name="TextBox 67">
            <a:extLst>
              <a:ext uri="{FF2B5EF4-FFF2-40B4-BE49-F238E27FC236}">
                <a16:creationId xmlns:a16="http://schemas.microsoft.com/office/drawing/2014/main" id="{8728C1E9-341B-8614-44BA-B325EEC5B83A}"/>
              </a:ext>
            </a:extLst>
          </p:cNvPr>
          <p:cNvSpPr txBox="1"/>
          <p:nvPr/>
        </p:nvSpPr>
        <p:spPr>
          <a:xfrm>
            <a:off x="9235884" y="3157170"/>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70" name="TextBox 69">
            <a:extLst>
              <a:ext uri="{FF2B5EF4-FFF2-40B4-BE49-F238E27FC236}">
                <a16:creationId xmlns:a16="http://schemas.microsoft.com/office/drawing/2014/main" id="{9BB79F7B-F91F-03DB-BEA8-68451C4C48C7}"/>
              </a:ext>
            </a:extLst>
          </p:cNvPr>
          <p:cNvSpPr txBox="1"/>
          <p:nvPr/>
        </p:nvSpPr>
        <p:spPr>
          <a:xfrm>
            <a:off x="9344408" y="1848901"/>
            <a:ext cx="383792" cy="369332"/>
          </a:xfrm>
          <a:prstGeom prst="rect">
            <a:avLst/>
          </a:prstGeom>
          <a:noFill/>
        </p:spPr>
        <p:txBody>
          <a:bodyPr wrap="square">
            <a:spAutoFit/>
          </a:bodyPr>
          <a:lstStyle/>
          <a:p>
            <a:r>
              <a:rPr lang="hu-HU" sz="1800" dirty="0">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2767761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E0336-BD63-1957-5B03-03C82956C1B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29</a:t>
            </a:fld>
            <a:endParaRPr lang="en-US" dirty="0"/>
          </a:p>
        </p:txBody>
      </p:sp>
      <p:sp>
        <p:nvSpPr>
          <p:cNvPr id="3" name="Title 2">
            <a:extLst>
              <a:ext uri="{FF2B5EF4-FFF2-40B4-BE49-F238E27FC236}">
                <a16:creationId xmlns:a16="http://schemas.microsoft.com/office/drawing/2014/main" id="{A498CB36-9F19-C46B-4257-A3F39B8C0E60}"/>
              </a:ext>
            </a:extLst>
          </p:cNvPr>
          <p:cNvSpPr>
            <a:spLocks noGrp="1"/>
          </p:cNvSpPr>
          <p:nvPr>
            <p:ph type="title"/>
          </p:nvPr>
        </p:nvSpPr>
        <p:spPr/>
        <p:txBody>
          <a:bodyPr>
            <a:normAutofit fontScale="90000"/>
          </a:bodyPr>
          <a:lstStyle/>
          <a:p>
            <a:r>
              <a:rPr lang="en-US" dirty="0"/>
              <a:t>Participants</a:t>
            </a:r>
          </a:p>
        </p:txBody>
      </p:sp>
      <p:sp>
        <p:nvSpPr>
          <p:cNvPr id="4" name="Content Placeholder 3">
            <a:extLst>
              <a:ext uri="{FF2B5EF4-FFF2-40B4-BE49-F238E27FC236}">
                <a16:creationId xmlns:a16="http://schemas.microsoft.com/office/drawing/2014/main" id="{5CC6FB7D-8385-6F5E-836E-AAF57B6FD8A9}"/>
              </a:ext>
            </a:extLst>
          </p:cNvPr>
          <p:cNvSpPr>
            <a:spLocks noGrp="1"/>
          </p:cNvSpPr>
          <p:nvPr>
            <p:ph idx="1"/>
          </p:nvPr>
        </p:nvSpPr>
        <p:spPr/>
        <p:txBody>
          <a:bodyPr/>
          <a:lstStyle/>
          <a:p>
            <a:r>
              <a:rPr lang="en-US" dirty="0"/>
              <a:t>Via Prolific</a:t>
            </a:r>
          </a:p>
          <a:p>
            <a:pPr lvl="1"/>
            <a:r>
              <a:rPr lang="en-US" dirty="0"/>
              <a:t>Screener: First language: Hungarian</a:t>
            </a:r>
          </a:p>
          <a:p>
            <a:r>
              <a:rPr lang="en-US" dirty="0"/>
              <a:t>35 participants recruited</a:t>
            </a:r>
          </a:p>
          <a:p>
            <a:pPr lvl="1"/>
            <a:r>
              <a:rPr lang="en-US" dirty="0"/>
              <a:t>Cleaning: 1 did not submit, 1 gave no ET data, 1 took too long, 1 failed AC, etc.</a:t>
            </a:r>
          </a:p>
          <a:p>
            <a:r>
              <a:rPr lang="en-US" dirty="0"/>
              <a:t>Took them around 25-30 minutes</a:t>
            </a:r>
          </a:p>
          <a:p>
            <a:r>
              <a:rPr lang="en-US" dirty="0"/>
              <a:t>30 valid answers/3 groups </a:t>
            </a:r>
            <a:r>
              <a:rPr lang="en-US" dirty="0">
                <a:latin typeface="Brill" panose="020F0602050406030203" pitchFamily="34" charset="0"/>
              </a:rPr>
              <a:t>→ every stimuli has </a:t>
            </a:r>
            <a:r>
              <a:rPr lang="en-US" b="1" dirty="0">
                <a:latin typeface="Brill" panose="020F0602050406030203" pitchFamily="34" charset="0"/>
              </a:rPr>
              <a:t>10</a:t>
            </a:r>
            <a:r>
              <a:rPr lang="en-US" dirty="0">
                <a:latin typeface="Brill" panose="020F0602050406030203" pitchFamily="34" charset="0"/>
              </a:rPr>
              <a:t> responses = </a:t>
            </a:r>
          </a:p>
          <a:p>
            <a:r>
              <a:rPr lang="en-US" dirty="0">
                <a:latin typeface="Brill" panose="020F0602050406030203" pitchFamily="34" charset="0"/>
              </a:rPr>
              <a:t>540 inputs.</a:t>
            </a:r>
          </a:p>
          <a:p>
            <a:r>
              <a:rPr lang="en-US" dirty="0">
                <a:latin typeface="Brill" panose="020F0602050406030203" pitchFamily="34" charset="0"/>
              </a:rPr>
              <a:t>Many people (40~45%) had technical problems.</a:t>
            </a:r>
            <a:endParaRPr lang="en-US" dirty="0"/>
          </a:p>
        </p:txBody>
      </p:sp>
    </p:spTree>
    <p:extLst>
      <p:ext uri="{BB962C8B-B14F-4D97-AF65-F5344CB8AC3E}">
        <p14:creationId xmlns:p14="http://schemas.microsoft.com/office/powerpoint/2010/main" val="231169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07F38B1-400F-FDCD-0561-94032B913B85}"/>
              </a:ext>
            </a:extLst>
          </p:cNvPr>
          <p:cNvPicPr>
            <a:picLocks noChangeAspect="1"/>
          </p:cNvPicPr>
          <p:nvPr/>
        </p:nvPicPr>
        <p:blipFill>
          <a:blip r:embed="rId2"/>
          <a:srcRect l="4875" r="5215" b="14063"/>
          <a:stretch>
            <a:fillRect/>
          </a:stretch>
        </p:blipFill>
        <p:spPr>
          <a:xfrm>
            <a:off x="-31785" y="2198914"/>
            <a:ext cx="12186232" cy="4659086"/>
          </a:xfrm>
          <a:prstGeom prst="rect">
            <a:avLst/>
          </a:prstGeom>
        </p:spPr>
      </p:pic>
      <p:sp>
        <p:nvSpPr>
          <p:cNvPr id="2" name="Slide Number Placeholder 1">
            <a:extLst>
              <a:ext uri="{FF2B5EF4-FFF2-40B4-BE49-F238E27FC236}">
                <a16:creationId xmlns:a16="http://schemas.microsoft.com/office/drawing/2014/main" id="{33B5F4D0-4D6C-BA43-B8CD-61F42A57E4E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30</a:t>
            </a:fld>
            <a:endParaRPr lang="en-US" dirty="0"/>
          </a:p>
        </p:txBody>
      </p:sp>
      <p:sp>
        <p:nvSpPr>
          <p:cNvPr id="3" name="Title 2">
            <a:extLst>
              <a:ext uri="{FF2B5EF4-FFF2-40B4-BE49-F238E27FC236}">
                <a16:creationId xmlns:a16="http://schemas.microsoft.com/office/drawing/2014/main" id="{092A75C8-8732-6A28-A07E-334619A27974}"/>
              </a:ext>
            </a:extLst>
          </p:cNvPr>
          <p:cNvSpPr>
            <a:spLocks noGrp="1"/>
          </p:cNvSpPr>
          <p:nvPr>
            <p:ph type="title"/>
          </p:nvPr>
        </p:nvSpPr>
        <p:spPr/>
        <p:txBody>
          <a:bodyPr>
            <a:normAutofit fontScale="90000"/>
          </a:bodyPr>
          <a:lstStyle/>
          <a:p>
            <a:r>
              <a:rPr lang="en-US" dirty="0"/>
              <a:t>Results: Expectations &amp; Sanity check</a:t>
            </a:r>
          </a:p>
        </p:txBody>
      </p:sp>
      <p:sp>
        <p:nvSpPr>
          <p:cNvPr id="7" name="TextBox 6">
            <a:extLst>
              <a:ext uri="{FF2B5EF4-FFF2-40B4-BE49-F238E27FC236}">
                <a16:creationId xmlns:a16="http://schemas.microsoft.com/office/drawing/2014/main" id="{EA5DAF36-1C58-A2CA-E423-8F144B6C5CE2}"/>
              </a:ext>
            </a:extLst>
          </p:cNvPr>
          <p:cNvSpPr txBox="1"/>
          <p:nvPr/>
        </p:nvSpPr>
        <p:spPr>
          <a:xfrm>
            <a:off x="7854813" y="4063972"/>
            <a:ext cx="1144942" cy="1862048"/>
          </a:xfrm>
          <a:prstGeom prst="rect">
            <a:avLst/>
          </a:prstGeom>
          <a:noFill/>
        </p:spPr>
        <p:txBody>
          <a:bodyPr wrap="square" rtlCol="0">
            <a:spAutoFit/>
          </a:bodyPr>
          <a:lstStyle/>
          <a:p>
            <a:pPr algn="ctr"/>
            <a:r>
              <a:rPr lang="en-US" sz="11500" dirty="0">
                <a:solidFill>
                  <a:schemeClr val="accent1"/>
                </a:solidFill>
              </a:rPr>
              <a:t>?</a:t>
            </a:r>
          </a:p>
        </p:txBody>
      </p:sp>
      <p:sp>
        <p:nvSpPr>
          <p:cNvPr id="8" name="Rectangle: Rounded Corners 7">
            <a:extLst>
              <a:ext uri="{FF2B5EF4-FFF2-40B4-BE49-F238E27FC236}">
                <a16:creationId xmlns:a16="http://schemas.microsoft.com/office/drawing/2014/main" id="{E58CB8D2-B1C9-82DB-A262-C42DEA2D583B}"/>
              </a:ext>
            </a:extLst>
          </p:cNvPr>
          <p:cNvSpPr/>
          <p:nvPr/>
        </p:nvSpPr>
        <p:spPr>
          <a:xfrm>
            <a:off x="4985657" y="3222171"/>
            <a:ext cx="6901543" cy="302622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39573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843B7-BC78-F3E1-CDD1-C41EC9399C1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31</a:t>
            </a:fld>
            <a:endParaRPr lang="en-US" dirty="0"/>
          </a:p>
        </p:txBody>
      </p:sp>
      <p:sp>
        <p:nvSpPr>
          <p:cNvPr id="3" name="Title 2">
            <a:extLst>
              <a:ext uri="{FF2B5EF4-FFF2-40B4-BE49-F238E27FC236}">
                <a16:creationId xmlns:a16="http://schemas.microsoft.com/office/drawing/2014/main" id="{AED8C514-59BD-404A-8381-A7A48B9A17FE}"/>
              </a:ext>
            </a:extLst>
          </p:cNvPr>
          <p:cNvSpPr>
            <a:spLocks noGrp="1"/>
          </p:cNvSpPr>
          <p:nvPr>
            <p:ph type="title"/>
          </p:nvPr>
        </p:nvSpPr>
        <p:spPr/>
        <p:txBody>
          <a:bodyPr>
            <a:normAutofit fontScale="90000"/>
          </a:bodyPr>
          <a:lstStyle/>
          <a:p>
            <a:r>
              <a:rPr lang="en-US" dirty="0"/>
              <a:t>Reading Times: Raw</a:t>
            </a:r>
          </a:p>
        </p:txBody>
      </p:sp>
      <p:pic>
        <p:nvPicPr>
          <p:cNvPr id="6" name="Picture 5" descr="A screenshot of a graph&#10;&#10;AI-generated content may be incorrect.">
            <a:extLst>
              <a:ext uri="{FF2B5EF4-FFF2-40B4-BE49-F238E27FC236}">
                <a16:creationId xmlns:a16="http://schemas.microsoft.com/office/drawing/2014/main" id="{3792B54F-57B1-DE80-BDF3-AA5AD08CC191}"/>
              </a:ext>
            </a:extLst>
          </p:cNvPr>
          <p:cNvPicPr>
            <a:picLocks noChangeAspect="1"/>
          </p:cNvPicPr>
          <p:nvPr/>
        </p:nvPicPr>
        <p:blipFill>
          <a:blip r:embed="rId2"/>
          <a:srcRect l="2321" r="1965"/>
          <a:stretch>
            <a:fillRect/>
          </a:stretch>
        </p:blipFill>
        <p:spPr>
          <a:xfrm>
            <a:off x="-3498" y="1752601"/>
            <a:ext cx="12216492" cy="5105400"/>
          </a:xfrm>
          <a:prstGeom prst="rect">
            <a:avLst/>
          </a:prstGeom>
        </p:spPr>
      </p:pic>
    </p:spTree>
    <p:extLst>
      <p:ext uri="{BB962C8B-B14F-4D97-AF65-F5344CB8AC3E}">
        <p14:creationId xmlns:p14="http://schemas.microsoft.com/office/powerpoint/2010/main" val="1566471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6AEE-6088-02DC-901D-F7AC6F7C95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B9960-B14E-18A9-E493-2A42A6BDD6A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32</a:t>
            </a:fld>
            <a:endParaRPr lang="en-US" dirty="0"/>
          </a:p>
        </p:txBody>
      </p:sp>
      <p:sp>
        <p:nvSpPr>
          <p:cNvPr id="3" name="Title 2">
            <a:extLst>
              <a:ext uri="{FF2B5EF4-FFF2-40B4-BE49-F238E27FC236}">
                <a16:creationId xmlns:a16="http://schemas.microsoft.com/office/drawing/2014/main" id="{72C815C5-2E36-4F74-B3EB-EE35A3BD8A09}"/>
              </a:ext>
            </a:extLst>
          </p:cNvPr>
          <p:cNvSpPr>
            <a:spLocks noGrp="1"/>
          </p:cNvSpPr>
          <p:nvPr>
            <p:ph type="title"/>
          </p:nvPr>
        </p:nvSpPr>
        <p:spPr/>
        <p:txBody>
          <a:bodyPr>
            <a:normAutofit fontScale="90000"/>
          </a:bodyPr>
          <a:lstStyle/>
          <a:p>
            <a:r>
              <a:rPr lang="en-US" dirty="0"/>
              <a:t>Reading Times: Means &amp; Comparison</a:t>
            </a:r>
          </a:p>
        </p:txBody>
      </p:sp>
      <p:pic>
        <p:nvPicPr>
          <p:cNvPr id="7" name="Picture 6" descr="A screenshot of a graph&#10;&#10;AI-generated content may be incorrect.">
            <a:extLst>
              <a:ext uri="{FF2B5EF4-FFF2-40B4-BE49-F238E27FC236}">
                <a16:creationId xmlns:a16="http://schemas.microsoft.com/office/drawing/2014/main" id="{486C2CD5-3870-B613-9CB4-5A9F8A18C728}"/>
              </a:ext>
            </a:extLst>
          </p:cNvPr>
          <p:cNvPicPr>
            <a:picLocks noChangeAspect="1"/>
          </p:cNvPicPr>
          <p:nvPr/>
        </p:nvPicPr>
        <p:blipFill>
          <a:blip r:embed="rId2"/>
          <a:srcRect l="3929"/>
          <a:stretch>
            <a:fillRect/>
          </a:stretch>
        </p:blipFill>
        <p:spPr>
          <a:xfrm>
            <a:off x="137340" y="1838960"/>
            <a:ext cx="12054659" cy="5019040"/>
          </a:xfrm>
          <a:prstGeom prst="rect">
            <a:avLst/>
          </a:prstGeom>
        </p:spPr>
      </p:pic>
    </p:spTree>
    <p:extLst>
      <p:ext uri="{BB962C8B-B14F-4D97-AF65-F5344CB8AC3E}">
        <p14:creationId xmlns:p14="http://schemas.microsoft.com/office/powerpoint/2010/main" val="475598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graph&#10;&#10;AI-generated content may be incorrect.">
            <a:extLst>
              <a:ext uri="{FF2B5EF4-FFF2-40B4-BE49-F238E27FC236}">
                <a16:creationId xmlns:a16="http://schemas.microsoft.com/office/drawing/2014/main" id="{41B4A3AC-0492-A6E7-2266-390C9DB87BA2}"/>
              </a:ext>
            </a:extLst>
          </p:cNvPr>
          <p:cNvPicPr>
            <a:picLocks noChangeAspect="1"/>
          </p:cNvPicPr>
          <p:nvPr/>
        </p:nvPicPr>
        <p:blipFill>
          <a:blip r:embed="rId2"/>
          <a:srcRect l="7257" t="8571" r="7257" b="12572"/>
          <a:stretch>
            <a:fillRect/>
          </a:stretch>
        </p:blipFill>
        <p:spPr>
          <a:xfrm>
            <a:off x="472794" y="1173626"/>
            <a:ext cx="11316513" cy="4175614"/>
          </a:xfrm>
          <a:prstGeom prst="rect">
            <a:avLst/>
          </a:prstGeom>
        </p:spPr>
      </p:pic>
      <p:sp>
        <p:nvSpPr>
          <p:cNvPr id="2" name="Slide Number Placeholder 1">
            <a:extLst>
              <a:ext uri="{FF2B5EF4-FFF2-40B4-BE49-F238E27FC236}">
                <a16:creationId xmlns:a16="http://schemas.microsoft.com/office/drawing/2014/main" id="{8EB385B0-F7B4-CAF6-35B0-484132E7C3D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33</a:t>
            </a:fld>
            <a:endParaRPr lang="en-US" dirty="0"/>
          </a:p>
        </p:txBody>
      </p:sp>
      <p:sp>
        <p:nvSpPr>
          <p:cNvPr id="3" name="Title 2">
            <a:extLst>
              <a:ext uri="{FF2B5EF4-FFF2-40B4-BE49-F238E27FC236}">
                <a16:creationId xmlns:a16="http://schemas.microsoft.com/office/drawing/2014/main" id="{DC9EE0C7-9A2E-F072-625F-2DA927C587EB}"/>
              </a:ext>
            </a:extLst>
          </p:cNvPr>
          <p:cNvSpPr>
            <a:spLocks noGrp="1"/>
          </p:cNvSpPr>
          <p:nvPr>
            <p:ph type="title"/>
          </p:nvPr>
        </p:nvSpPr>
        <p:spPr/>
        <p:txBody>
          <a:bodyPr>
            <a:normAutofit fontScale="90000"/>
          </a:bodyPr>
          <a:lstStyle/>
          <a:p>
            <a:r>
              <a:rPr lang="en-US" dirty="0"/>
              <a:t>Behavioral Results: Choices</a:t>
            </a:r>
          </a:p>
        </p:txBody>
      </p:sp>
      <p:sp>
        <p:nvSpPr>
          <p:cNvPr id="4" name="Content Placeholder 3">
            <a:extLst>
              <a:ext uri="{FF2B5EF4-FFF2-40B4-BE49-F238E27FC236}">
                <a16:creationId xmlns:a16="http://schemas.microsoft.com/office/drawing/2014/main" id="{14EFFE6A-DDFC-FFA5-509A-FB66B6AB90BD}"/>
              </a:ext>
            </a:extLst>
          </p:cNvPr>
          <p:cNvSpPr>
            <a:spLocks noGrp="1"/>
          </p:cNvSpPr>
          <p:nvPr>
            <p:ph idx="1"/>
          </p:nvPr>
        </p:nvSpPr>
        <p:spPr>
          <a:xfrm>
            <a:off x="472793" y="5349240"/>
            <a:ext cx="11246413" cy="1508760"/>
          </a:xfrm>
        </p:spPr>
        <p:txBody>
          <a:bodyPr>
            <a:normAutofit/>
          </a:bodyPr>
          <a:lstStyle/>
          <a:p>
            <a:pPr>
              <a:lnSpc>
                <a:spcPct val="120000"/>
              </a:lnSpc>
              <a:spcBef>
                <a:spcPts val="0"/>
              </a:spcBef>
            </a:pPr>
            <a:r>
              <a:rPr lang="en-US" sz="2400" dirty="0"/>
              <a:t>People treated typical focus sentences just like the ‘only’-restricted, explicitly exclusive ones.</a:t>
            </a:r>
          </a:p>
          <a:p>
            <a:pPr>
              <a:lnSpc>
                <a:spcPct val="120000"/>
              </a:lnSpc>
              <a:spcBef>
                <a:spcPts val="0"/>
              </a:spcBef>
            </a:pPr>
            <a:r>
              <a:rPr lang="en-US" sz="2400" dirty="0" err="1"/>
              <a:t>Contrastivity</a:t>
            </a:r>
            <a:r>
              <a:rPr lang="en-US" sz="2400" dirty="0"/>
              <a:t> in the sentences (‘amongst others’) did not forbid the exhaustive type choice. </a:t>
            </a:r>
          </a:p>
        </p:txBody>
      </p:sp>
    </p:spTree>
    <p:extLst>
      <p:ext uri="{BB962C8B-B14F-4D97-AF65-F5344CB8AC3E}">
        <p14:creationId xmlns:p14="http://schemas.microsoft.com/office/powerpoint/2010/main" val="1183545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computer&#10;&#10;AI-generated content may be incorrect.">
            <a:extLst>
              <a:ext uri="{FF2B5EF4-FFF2-40B4-BE49-F238E27FC236}">
                <a16:creationId xmlns:a16="http://schemas.microsoft.com/office/drawing/2014/main" id="{4C933072-4577-3875-32FA-52F570AF9B0C}"/>
              </a:ext>
            </a:extLst>
          </p:cNvPr>
          <p:cNvPicPr>
            <a:picLocks noChangeAspect="1"/>
          </p:cNvPicPr>
          <p:nvPr/>
        </p:nvPicPr>
        <p:blipFill>
          <a:blip r:embed="rId2"/>
          <a:srcRect t="1289" b="66667"/>
          <a:stretch>
            <a:fillRect/>
          </a:stretch>
        </p:blipFill>
        <p:spPr>
          <a:xfrm>
            <a:off x="4164969" y="37396"/>
            <a:ext cx="2849466" cy="6695871"/>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AA40DE6C-16E1-8B4A-E29D-E89BDF7CCA7C}"/>
              </a:ext>
            </a:extLst>
          </p:cNvPr>
          <p:cNvPicPr>
            <a:picLocks noChangeAspect="1"/>
          </p:cNvPicPr>
          <p:nvPr/>
        </p:nvPicPr>
        <p:blipFill>
          <a:blip r:embed="rId2"/>
          <a:srcRect t="33651" b="33492"/>
          <a:stretch>
            <a:fillRect/>
          </a:stretch>
        </p:blipFill>
        <p:spPr>
          <a:xfrm>
            <a:off x="6842430" y="-7857"/>
            <a:ext cx="2849466" cy="686585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55D21C4-AC6B-B7FB-05C8-3015F995BF38}"/>
              </a:ext>
            </a:extLst>
          </p:cNvPr>
          <p:cNvPicPr>
            <a:picLocks noChangeAspect="1"/>
          </p:cNvPicPr>
          <p:nvPr/>
        </p:nvPicPr>
        <p:blipFill>
          <a:blip r:embed="rId2"/>
          <a:srcRect t="66246"/>
          <a:stretch>
            <a:fillRect/>
          </a:stretch>
        </p:blipFill>
        <p:spPr>
          <a:xfrm>
            <a:off x="9436691" y="-7857"/>
            <a:ext cx="2770549" cy="6858000"/>
          </a:xfrm>
          <a:prstGeom prst="rect">
            <a:avLst/>
          </a:prstGeom>
        </p:spPr>
      </p:pic>
      <p:sp>
        <p:nvSpPr>
          <p:cNvPr id="2" name="Slide Number Placeholder 1">
            <a:extLst>
              <a:ext uri="{FF2B5EF4-FFF2-40B4-BE49-F238E27FC236}">
                <a16:creationId xmlns:a16="http://schemas.microsoft.com/office/drawing/2014/main" id="{A09C6E72-85B6-874C-EF63-2C82F49D5A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34</a:t>
            </a:fld>
            <a:endParaRPr lang="en-US" dirty="0"/>
          </a:p>
        </p:txBody>
      </p:sp>
      <p:sp>
        <p:nvSpPr>
          <p:cNvPr id="3" name="Title 2">
            <a:extLst>
              <a:ext uri="{FF2B5EF4-FFF2-40B4-BE49-F238E27FC236}">
                <a16:creationId xmlns:a16="http://schemas.microsoft.com/office/drawing/2014/main" id="{B8E5BBBE-9539-A109-324A-98F98BCD5FCE}"/>
              </a:ext>
            </a:extLst>
          </p:cNvPr>
          <p:cNvSpPr>
            <a:spLocks noGrp="1"/>
          </p:cNvSpPr>
          <p:nvPr>
            <p:ph type="title"/>
          </p:nvPr>
        </p:nvSpPr>
        <p:spPr>
          <a:xfrm>
            <a:off x="1261872" y="384049"/>
            <a:ext cx="9692640" cy="1207676"/>
          </a:xfrm>
        </p:spPr>
        <p:txBody>
          <a:bodyPr>
            <a:normAutofit/>
          </a:bodyPr>
          <a:lstStyle/>
          <a:p>
            <a:r>
              <a:rPr lang="en-US" sz="4000" dirty="0"/>
              <a:t>Eye-Tracking</a:t>
            </a:r>
            <a:br>
              <a:rPr lang="en-US" sz="4000" dirty="0"/>
            </a:br>
            <a:endParaRPr lang="en-US" sz="4000" dirty="0"/>
          </a:p>
        </p:txBody>
      </p:sp>
      <p:sp>
        <p:nvSpPr>
          <p:cNvPr id="4" name="Content Placeholder 3">
            <a:extLst>
              <a:ext uri="{FF2B5EF4-FFF2-40B4-BE49-F238E27FC236}">
                <a16:creationId xmlns:a16="http://schemas.microsoft.com/office/drawing/2014/main" id="{B397352C-30E6-BDE5-B0CF-AD56744B5FEC}"/>
              </a:ext>
            </a:extLst>
          </p:cNvPr>
          <p:cNvSpPr>
            <a:spLocks noGrp="1"/>
          </p:cNvSpPr>
          <p:nvPr>
            <p:ph idx="1"/>
          </p:nvPr>
        </p:nvSpPr>
        <p:spPr>
          <a:xfrm>
            <a:off x="1261871" y="1698170"/>
            <a:ext cx="2903098" cy="4794069"/>
          </a:xfrm>
        </p:spPr>
        <p:txBody>
          <a:bodyPr/>
          <a:lstStyle/>
          <a:p>
            <a:r>
              <a:rPr lang="en-US" dirty="0"/>
              <a:t>Data as </a:t>
            </a:r>
            <a:br>
              <a:rPr lang="en-US" dirty="0"/>
            </a:br>
            <a:r>
              <a:rPr lang="en-US" dirty="0"/>
              <a:t>stacked dwell time segments</a:t>
            </a:r>
            <a:br>
              <a:rPr lang="en-US" dirty="0"/>
            </a:br>
            <a:r>
              <a:rPr lang="en-US" dirty="0"/>
              <a:t>…</a:t>
            </a:r>
          </a:p>
          <a:p>
            <a:endParaRPr lang="en-US" dirty="0"/>
          </a:p>
          <a:p>
            <a:endParaRPr lang="en-US" dirty="0"/>
          </a:p>
          <a:p>
            <a:r>
              <a:rPr lang="en-US" dirty="0">
                <a:solidFill>
                  <a:schemeClr val="accent6"/>
                </a:solidFill>
              </a:rPr>
              <a:t>Blue</a:t>
            </a:r>
            <a:r>
              <a:rPr lang="en-US" dirty="0"/>
              <a:t> = Left AOI</a:t>
            </a:r>
          </a:p>
          <a:p>
            <a:r>
              <a:rPr lang="en-US" dirty="0">
                <a:solidFill>
                  <a:schemeClr val="accent1"/>
                </a:solidFill>
              </a:rPr>
              <a:t>Green</a:t>
            </a:r>
            <a:r>
              <a:rPr lang="en-US" dirty="0"/>
              <a:t> = Right AOI</a:t>
            </a:r>
          </a:p>
        </p:txBody>
      </p:sp>
    </p:spTree>
    <p:extLst>
      <p:ext uri="{BB962C8B-B14F-4D97-AF65-F5344CB8AC3E}">
        <p14:creationId xmlns:p14="http://schemas.microsoft.com/office/powerpoint/2010/main" val="2556047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755A8-22FD-3C6D-DDCD-939AFCF8430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35</a:t>
            </a:fld>
            <a:endParaRPr lang="en-US" dirty="0"/>
          </a:p>
        </p:txBody>
      </p:sp>
      <p:sp>
        <p:nvSpPr>
          <p:cNvPr id="3" name="Title 2">
            <a:extLst>
              <a:ext uri="{FF2B5EF4-FFF2-40B4-BE49-F238E27FC236}">
                <a16:creationId xmlns:a16="http://schemas.microsoft.com/office/drawing/2014/main" id="{4EE945DB-995E-3F0B-9973-7942D33078F6}"/>
              </a:ext>
            </a:extLst>
          </p:cNvPr>
          <p:cNvSpPr>
            <a:spLocks noGrp="1"/>
          </p:cNvSpPr>
          <p:nvPr>
            <p:ph type="title"/>
          </p:nvPr>
        </p:nvSpPr>
        <p:spPr/>
        <p:txBody>
          <a:bodyPr>
            <a:normAutofit fontScale="90000"/>
          </a:bodyPr>
          <a:lstStyle/>
          <a:p>
            <a:r>
              <a:rPr lang="en-US" dirty="0"/>
              <a:t>Eye-Tracking: Cleaning &amp; Classification</a:t>
            </a:r>
          </a:p>
        </p:txBody>
      </p:sp>
      <p:sp>
        <p:nvSpPr>
          <p:cNvPr id="4" name="Content Placeholder 3">
            <a:extLst>
              <a:ext uri="{FF2B5EF4-FFF2-40B4-BE49-F238E27FC236}">
                <a16:creationId xmlns:a16="http://schemas.microsoft.com/office/drawing/2014/main" id="{3D0266F2-DF35-D7E3-9EF9-D6286D56D9E9}"/>
              </a:ext>
            </a:extLst>
          </p:cNvPr>
          <p:cNvSpPr>
            <a:spLocks noGrp="1"/>
          </p:cNvSpPr>
          <p:nvPr>
            <p:ph idx="1"/>
          </p:nvPr>
        </p:nvSpPr>
        <p:spPr>
          <a:xfrm>
            <a:off x="1261871" y="1473200"/>
            <a:ext cx="9893809" cy="5019040"/>
          </a:xfrm>
        </p:spPr>
        <p:txBody>
          <a:bodyPr/>
          <a:lstStyle/>
          <a:p>
            <a:r>
              <a:rPr lang="en-US" dirty="0"/>
              <a:t>We have simple, static AOIs; relatively clean gaze data</a:t>
            </a:r>
          </a:p>
          <a:p>
            <a:r>
              <a:rPr lang="hu-HU" b="1" dirty="0" err="1"/>
              <a:t>Identification</a:t>
            </a:r>
            <a:r>
              <a:rPr lang="hu-HU" b="1" dirty="0"/>
              <a:t> </a:t>
            </a:r>
            <a:r>
              <a:rPr lang="hu-HU" b="1" dirty="0" err="1"/>
              <a:t>by</a:t>
            </a:r>
            <a:r>
              <a:rPr lang="hu-HU" b="1" dirty="0"/>
              <a:t> </a:t>
            </a:r>
            <a:r>
              <a:rPr lang="hu-HU" b="1" dirty="0" err="1"/>
              <a:t>Dispersion-Threshold</a:t>
            </a:r>
            <a:r>
              <a:rPr lang="hu-HU" b="1" dirty="0"/>
              <a:t> (I</a:t>
            </a:r>
            <a:r>
              <a:rPr lang="en-US" b="1" dirty="0"/>
              <a:t>-</a:t>
            </a:r>
            <a:r>
              <a:rPr lang="hu-HU" b="1" dirty="0"/>
              <a:t>DT)</a:t>
            </a:r>
            <a:r>
              <a:rPr lang="en-US" b="1" dirty="0"/>
              <a:t> </a:t>
            </a:r>
            <a:r>
              <a:rPr lang="en-US" dirty="0"/>
              <a:t>algorithm</a:t>
            </a:r>
          </a:p>
          <a:p>
            <a:pPr lvl="1"/>
            <a:r>
              <a:rPr lang="en-US" dirty="0"/>
              <a:t>Good for low- to mid-frequency eye trackers; static stimuli; simple</a:t>
            </a:r>
          </a:p>
          <a:p>
            <a:pPr lvl="1"/>
            <a:r>
              <a:rPr lang="en-US" dirty="0"/>
              <a:t>Cleans noise/jitter </a:t>
            </a:r>
          </a:p>
          <a:p>
            <a:r>
              <a:rPr lang="en-US" dirty="0"/>
              <a:t>Merge/remove very short fixations and rapid saccades that arise from tracker inaccuracies and are not real gazes</a:t>
            </a:r>
          </a:p>
          <a:p>
            <a:pPr lvl="1"/>
            <a:r>
              <a:rPr lang="en-US" dirty="0"/>
              <a:t>Threshold: </a:t>
            </a:r>
            <a:r>
              <a:rPr lang="en-US" dirty="0">
                <a:solidFill>
                  <a:schemeClr val="accent2"/>
                </a:solidFill>
              </a:rPr>
              <a:t>60ms</a:t>
            </a:r>
            <a:r>
              <a:rPr lang="en-US" dirty="0"/>
              <a:t> or less (can be adjusted)</a:t>
            </a:r>
          </a:p>
          <a:p>
            <a:endParaRPr lang="en-US" dirty="0"/>
          </a:p>
          <a:p>
            <a:endParaRPr lang="en-US" dirty="0"/>
          </a:p>
          <a:p>
            <a:endParaRPr lang="en-US" dirty="0"/>
          </a:p>
        </p:txBody>
      </p:sp>
    </p:spTree>
    <p:extLst>
      <p:ext uri="{BB962C8B-B14F-4D97-AF65-F5344CB8AC3E}">
        <p14:creationId xmlns:p14="http://schemas.microsoft.com/office/powerpoint/2010/main" val="276533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524D1477-6C14-9AC8-4A09-D110550EB190}"/>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FA5818A-D425-5CD3-7E34-DA0863D934C9}"/>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92CEF6CA-C1B4-A163-F5CD-06E936BB52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36</a:t>
            </a:fld>
            <a:endParaRPr lang="en-US" dirty="0"/>
          </a:p>
        </p:txBody>
      </p:sp>
      <p:sp>
        <p:nvSpPr>
          <p:cNvPr id="3" name="Title 2">
            <a:extLst>
              <a:ext uri="{FF2B5EF4-FFF2-40B4-BE49-F238E27FC236}">
                <a16:creationId xmlns:a16="http://schemas.microsoft.com/office/drawing/2014/main" id="{36543BA2-CDF4-F1A3-9A0D-58F57F8046F4}"/>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Tree>
    <p:extLst>
      <p:ext uri="{BB962C8B-B14F-4D97-AF65-F5344CB8AC3E}">
        <p14:creationId xmlns:p14="http://schemas.microsoft.com/office/powerpoint/2010/main" val="3969829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E17B-9BAA-89E5-4745-0E1C1E41023B}"/>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6B94DEB2-68D3-E174-AC3A-0BDB069F736C}"/>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5682A3C5-91A2-24A9-A64D-BA13B1E7435A}"/>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BA276C80-307D-546D-B8A8-6FADBE3A60F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37</a:t>
            </a:fld>
            <a:endParaRPr lang="en-US" dirty="0"/>
          </a:p>
        </p:txBody>
      </p:sp>
      <p:sp>
        <p:nvSpPr>
          <p:cNvPr id="3" name="Title 2">
            <a:extLst>
              <a:ext uri="{FF2B5EF4-FFF2-40B4-BE49-F238E27FC236}">
                <a16:creationId xmlns:a16="http://schemas.microsoft.com/office/drawing/2014/main" id="{37476211-C098-3BDD-EF53-62D72D02208A}"/>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
        <p:nvSpPr>
          <p:cNvPr id="5" name="TextBox 4">
            <a:extLst>
              <a:ext uri="{FF2B5EF4-FFF2-40B4-BE49-F238E27FC236}">
                <a16:creationId xmlns:a16="http://schemas.microsoft.com/office/drawing/2014/main" id="{403AA71B-8B3B-7CB4-42DA-627984DA75FB}"/>
              </a:ext>
            </a:extLst>
          </p:cNvPr>
          <p:cNvSpPr txBox="1"/>
          <p:nvPr/>
        </p:nvSpPr>
        <p:spPr>
          <a:xfrm>
            <a:off x="3742180" y="6172200"/>
            <a:ext cx="5085046" cy="646331"/>
          </a:xfrm>
          <a:prstGeom prst="rect">
            <a:avLst/>
          </a:prstGeom>
          <a:noFill/>
        </p:spPr>
        <p:txBody>
          <a:bodyPr wrap="none" rtlCol="0">
            <a:spAutoFit/>
          </a:bodyPr>
          <a:lstStyle/>
          <a:p>
            <a:r>
              <a:rPr lang="en-US" sz="3600" dirty="0">
                <a:solidFill>
                  <a:schemeClr val="accent4"/>
                </a:solidFill>
              </a:rPr>
              <a:t>Need to be double-checked!</a:t>
            </a:r>
          </a:p>
        </p:txBody>
      </p:sp>
    </p:spTree>
    <p:extLst>
      <p:ext uri="{BB962C8B-B14F-4D97-AF65-F5344CB8AC3E}">
        <p14:creationId xmlns:p14="http://schemas.microsoft.com/office/powerpoint/2010/main" val="236954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B0A29-CEBE-6F79-806A-FAF73BD5784D}"/>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712AE24C-58FD-D692-DD55-183CB9225EAC}"/>
              </a:ext>
            </a:extLst>
          </p:cNvPr>
          <p:cNvPicPr>
            <a:picLocks noChangeAspect="1"/>
          </p:cNvPicPr>
          <p:nvPr/>
        </p:nvPicPr>
        <p:blipFill>
          <a:blip r:embed="rId2"/>
          <a:srcRect t="11270" r="12063" b="2539"/>
          <a:stretch>
            <a:fillRect/>
          </a:stretch>
        </p:blipFill>
        <p:spPr>
          <a:xfrm>
            <a:off x="5214258" y="3868"/>
            <a:ext cx="6992984" cy="6854133"/>
          </a:xfrm>
          <a:prstGeom prst="rect">
            <a:avLst/>
          </a:prstGeom>
        </p:spPr>
      </p:pic>
      <p:sp>
        <p:nvSpPr>
          <p:cNvPr id="2" name="Slide Number Placeholder 1">
            <a:extLst>
              <a:ext uri="{FF2B5EF4-FFF2-40B4-BE49-F238E27FC236}">
                <a16:creationId xmlns:a16="http://schemas.microsoft.com/office/drawing/2014/main" id="{6A3911A4-41DC-237F-B789-E8BCF62055C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38</a:t>
            </a:fld>
            <a:endParaRPr lang="en-US" dirty="0"/>
          </a:p>
        </p:txBody>
      </p:sp>
      <p:sp>
        <p:nvSpPr>
          <p:cNvPr id="3" name="Title 2">
            <a:extLst>
              <a:ext uri="{FF2B5EF4-FFF2-40B4-BE49-F238E27FC236}">
                <a16:creationId xmlns:a16="http://schemas.microsoft.com/office/drawing/2014/main" id="{9586A2E7-3800-FD57-6CBE-520D806BF643}"/>
              </a:ext>
            </a:extLst>
          </p:cNvPr>
          <p:cNvSpPr>
            <a:spLocks noGrp="1"/>
          </p:cNvSpPr>
          <p:nvPr>
            <p:ph type="title"/>
          </p:nvPr>
        </p:nvSpPr>
        <p:spPr>
          <a:xfrm>
            <a:off x="827314" y="365761"/>
            <a:ext cx="10127198" cy="684106"/>
          </a:xfrm>
        </p:spPr>
        <p:txBody>
          <a:bodyPr>
            <a:normAutofit fontScale="90000"/>
          </a:bodyPr>
          <a:lstStyle/>
          <a:p>
            <a:r>
              <a:rPr lang="en-US" dirty="0"/>
              <a:t>						</a:t>
            </a:r>
          </a:p>
        </p:txBody>
      </p:sp>
      <p:pic>
        <p:nvPicPr>
          <p:cNvPr id="4" name="Picture 3" descr="A banana on a white surface&#10;&#10;AI-generated content may be incorrect.">
            <a:extLst>
              <a:ext uri="{FF2B5EF4-FFF2-40B4-BE49-F238E27FC236}">
                <a16:creationId xmlns:a16="http://schemas.microsoft.com/office/drawing/2014/main" id="{11D1F256-D234-F821-88C6-E8F58473825E}"/>
              </a:ext>
            </a:extLst>
          </p:cNvPr>
          <p:cNvPicPr>
            <a:picLocks noChangeAspect="1"/>
          </p:cNvPicPr>
          <p:nvPr/>
        </p:nvPicPr>
        <p:blipFill>
          <a:blip r:embed="rId3"/>
          <a:stretch>
            <a:fillRect/>
          </a:stretch>
        </p:blipFill>
        <p:spPr>
          <a:xfrm>
            <a:off x="447616" y="365761"/>
            <a:ext cx="2653505" cy="2653505"/>
          </a:xfrm>
          <a:prstGeom prst="rect">
            <a:avLst/>
          </a:prstGeom>
          <a:ln>
            <a:noFill/>
          </a:ln>
          <a:effectLst>
            <a:outerShdw blurRad="292100" dist="139700" dir="2700000" algn="tl" rotWithShape="0">
              <a:srgbClr val="333333">
                <a:alpha val="65000"/>
              </a:srgbClr>
            </a:outerShdw>
          </a:effectLst>
        </p:spPr>
      </p:pic>
      <p:pic>
        <p:nvPicPr>
          <p:cNvPr id="6" name="Picture 5" descr="A banana and grapes next to a red apple&#10;&#10;AI-generated content may be incorrect.">
            <a:extLst>
              <a:ext uri="{FF2B5EF4-FFF2-40B4-BE49-F238E27FC236}">
                <a16:creationId xmlns:a16="http://schemas.microsoft.com/office/drawing/2014/main" id="{A9031C4F-C677-0F58-E4A6-BD3DB42E1365}"/>
              </a:ext>
            </a:extLst>
          </p:cNvPr>
          <p:cNvPicPr>
            <a:picLocks noChangeAspect="1"/>
          </p:cNvPicPr>
          <p:nvPr/>
        </p:nvPicPr>
        <p:blipFill>
          <a:blip r:embed="rId4"/>
          <a:stretch>
            <a:fillRect/>
          </a:stretch>
        </p:blipFill>
        <p:spPr>
          <a:xfrm>
            <a:off x="447616" y="3838734"/>
            <a:ext cx="2653505" cy="2653505"/>
          </a:xfrm>
          <a:prstGeom prst="rect">
            <a:avLst/>
          </a:prstGeom>
          <a:ln>
            <a:noFill/>
          </a:ln>
          <a:effectLst>
            <a:outerShdw blurRad="292100" dist="139700" dir="2700000" algn="tl" rotWithShape="0">
              <a:srgbClr val="333333">
                <a:alpha val="65000"/>
              </a:srgbClr>
            </a:outerShdw>
          </a:effectLst>
        </p:spPr>
      </p:pic>
      <p:sp>
        <p:nvSpPr>
          <p:cNvPr id="7" name="Title 2">
            <a:extLst>
              <a:ext uri="{FF2B5EF4-FFF2-40B4-BE49-F238E27FC236}">
                <a16:creationId xmlns:a16="http://schemas.microsoft.com/office/drawing/2014/main" id="{7D760D0D-2834-D7A0-BB17-949EF4FECAE0}"/>
              </a:ext>
            </a:extLst>
          </p:cNvPr>
          <p:cNvSpPr txBox="1">
            <a:spLocks/>
          </p:cNvSpPr>
          <p:nvPr/>
        </p:nvSpPr>
        <p:spPr>
          <a:xfrm>
            <a:off x="3695480" y="518161"/>
            <a:ext cx="7091391" cy="684106"/>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t>Item 1</a:t>
            </a:r>
          </a:p>
        </p:txBody>
      </p:sp>
    </p:spTree>
    <p:extLst>
      <p:ext uri="{BB962C8B-B14F-4D97-AF65-F5344CB8AC3E}">
        <p14:creationId xmlns:p14="http://schemas.microsoft.com/office/powerpoint/2010/main" val="1616219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93F0BE2-C735-5A2C-8E17-B5789ABF7AE0}"/>
              </a:ext>
            </a:extLst>
          </p:cNvPr>
          <p:cNvPicPr>
            <a:picLocks noChangeAspect="1"/>
          </p:cNvPicPr>
          <p:nvPr/>
        </p:nvPicPr>
        <p:blipFill>
          <a:blip r:embed="rId2"/>
          <a:srcRect l="3174" r="13111"/>
          <a:stretch>
            <a:fillRect/>
          </a:stretch>
        </p:blipFill>
        <p:spPr>
          <a:xfrm>
            <a:off x="6368142" y="0"/>
            <a:ext cx="5741126" cy="6858000"/>
          </a:xfrm>
          <a:prstGeom prst="rect">
            <a:avLst/>
          </a:prstGeom>
        </p:spPr>
      </p:pic>
      <p:sp>
        <p:nvSpPr>
          <p:cNvPr id="2" name="Slide Number Placeholder 1">
            <a:extLst>
              <a:ext uri="{FF2B5EF4-FFF2-40B4-BE49-F238E27FC236}">
                <a16:creationId xmlns:a16="http://schemas.microsoft.com/office/drawing/2014/main" id="{18A7D5C4-5D9E-3A38-17A8-90ADD45312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39</a:t>
            </a:fld>
            <a:endParaRPr lang="en-US" dirty="0"/>
          </a:p>
        </p:txBody>
      </p:sp>
      <p:sp>
        <p:nvSpPr>
          <p:cNvPr id="3" name="Title 2">
            <a:extLst>
              <a:ext uri="{FF2B5EF4-FFF2-40B4-BE49-F238E27FC236}">
                <a16:creationId xmlns:a16="http://schemas.microsoft.com/office/drawing/2014/main" id="{562AC902-B8DF-00C0-B1F7-A33EA07349B2}"/>
              </a:ext>
            </a:extLst>
          </p:cNvPr>
          <p:cNvSpPr>
            <a:spLocks noGrp="1"/>
          </p:cNvSpPr>
          <p:nvPr>
            <p:ph type="title"/>
          </p:nvPr>
        </p:nvSpPr>
        <p:spPr/>
        <p:txBody>
          <a:bodyPr>
            <a:normAutofit fontScale="90000"/>
          </a:bodyPr>
          <a:lstStyle/>
          <a:p>
            <a:r>
              <a:rPr lang="en-US" dirty="0"/>
              <a:t>Analyzing ET data</a:t>
            </a:r>
          </a:p>
        </p:txBody>
      </p:sp>
      <p:sp>
        <p:nvSpPr>
          <p:cNvPr id="4" name="Content Placeholder 3">
            <a:extLst>
              <a:ext uri="{FF2B5EF4-FFF2-40B4-BE49-F238E27FC236}">
                <a16:creationId xmlns:a16="http://schemas.microsoft.com/office/drawing/2014/main" id="{4A203931-D9DD-BCB6-376D-96956F8D26C7}"/>
              </a:ext>
            </a:extLst>
          </p:cNvPr>
          <p:cNvSpPr>
            <a:spLocks noGrp="1"/>
          </p:cNvSpPr>
          <p:nvPr>
            <p:ph idx="1"/>
          </p:nvPr>
        </p:nvSpPr>
        <p:spPr/>
        <p:txBody>
          <a:bodyPr/>
          <a:lstStyle/>
          <a:p>
            <a:r>
              <a:rPr lang="en-US" dirty="0"/>
              <a:t>Dominant side (left – right)</a:t>
            </a:r>
          </a:p>
          <a:p>
            <a:r>
              <a:rPr lang="en-US" b="1" dirty="0"/>
              <a:t>Total dwell time</a:t>
            </a:r>
          </a:p>
          <a:p>
            <a:r>
              <a:rPr lang="en-US" dirty="0"/>
              <a:t>Proportion of dwell times (left – right)</a:t>
            </a:r>
          </a:p>
          <a:p>
            <a:r>
              <a:rPr lang="en-US" dirty="0"/>
              <a:t>No. of fixations (total; left – right)</a:t>
            </a:r>
          </a:p>
          <a:p>
            <a:r>
              <a:rPr lang="en-US" dirty="0"/>
              <a:t>No. of revisits (left – right)</a:t>
            </a:r>
          </a:p>
          <a:p>
            <a:r>
              <a:rPr lang="en-US" b="1" dirty="0"/>
              <a:t>No. of transitions (total)</a:t>
            </a:r>
          </a:p>
          <a:p>
            <a:endParaRPr lang="en-US" dirty="0"/>
          </a:p>
          <a:p>
            <a:endParaRPr lang="en-US" dirty="0"/>
          </a:p>
        </p:txBody>
      </p:sp>
    </p:spTree>
    <p:extLst>
      <p:ext uri="{BB962C8B-B14F-4D97-AF65-F5344CB8AC3E}">
        <p14:creationId xmlns:p14="http://schemas.microsoft.com/office/powerpoint/2010/main" val="340121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8FF56-1F16-B8D9-D193-3DB3C70A41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40</a:t>
            </a:fld>
            <a:endParaRPr lang="en-US" dirty="0"/>
          </a:p>
        </p:txBody>
      </p:sp>
      <p:sp>
        <p:nvSpPr>
          <p:cNvPr id="3" name="Title 2">
            <a:extLst>
              <a:ext uri="{FF2B5EF4-FFF2-40B4-BE49-F238E27FC236}">
                <a16:creationId xmlns:a16="http://schemas.microsoft.com/office/drawing/2014/main" id="{47345CC9-8000-36DC-C4A2-81057176CDB9}"/>
              </a:ext>
            </a:extLst>
          </p:cNvPr>
          <p:cNvSpPr>
            <a:spLocks noGrp="1"/>
          </p:cNvSpPr>
          <p:nvPr>
            <p:ph type="title"/>
          </p:nvPr>
        </p:nvSpPr>
        <p:spPr/>
        <p:txBody>
          <a:bodyPr>
            <a:normAutofit fontScale="90000"/>
          </a:bodyPr>
          <a:lstStyle/>
          <a:p>
            <a:r>
              <a:rPr lang="en-US" dirty="0"/>
              <a:t>Next step: Statistical analysis</a:t>
            </a:r>
          </a:p>
        </p:txBody>
      </p:sp>
      <p:sp>
        <p:nvSpPr>
          <p:cNvPr id="4" name="Content Placeholder 3">
            <a:extLst>
              <a:ext uri="{FF2B5EF4-FFF2-40B4-BE49-F238E27FC236}">
                <a16:creationId xmlns:a16="http://schemas.microsoft.com/office/drawing/2014/main" id="{F5949E58-2434-9F63-DAF1-B4AE2112596E}"/>
              </a:ext>
            </a:extLst>
          </p:cNvPr>
          <p:cNvSpPr>
            <a:spLocks noGrp="1"/>
          </p:cNvSpPr>
          <p:nvPr>
            <p:ph idx="1"/>
          </p:nvPr>
        </p:nvSpPr>
        <p:spPr>
          <a:xfrm>
            <a:off x="1170432" y="1473200"/>
            <a:ext cx="11021568" cy="5019040"/>
          </a:xfrm>
        </p:spPr>
        <p:txBody>
          <a:bodyPr>
            <a:normAutofit fontScale="92500" lnSpcReduction="20000"/>
          </a:bodyPr>
          <a:lstStyle/>
          <a:p>
            <a:r>
              <a:rPr lang="en-US" dirty="0"/>
              <a:t>Fit some mixed model to find what influences the choice.</a:t>
            </a:r>
          </a:p>
          <a:p>
            <a:pPr lvl="1"/>
            <a:r>
              <a:rPr lang="en-US" b="1" dirty="0"/>
              <a:t>Fixed effects</a:t>
            </a:r>
            <a:r>
              <a:rPr lang="en-US" dirty="0"/>
              <a:t>: total dwell time; no. of transitions; dominant side(?); condition</a:t>
            </a:r>
          </a:p>
          <a:p>
            <a:pPr lvl="1"/>
            <a:r>
              <a:rPr lang="en-US" b="1" dirty="0"/>
              <a:t>Random effects</a:t>
            </a:r>
            <a:r>
              <a:rPr lang="en-US" dirty="0"/>
              <a:t>: item/sentence(?); participant</a:t>
            </a:r>
          </a:p>
          <a:p>
            <a:pPr marL="2880" indent="0">
              <a:buNone/>
            </a:pPr>
            <a:r>
              <a:rPr lang="en-US" b="1" dirty="0">
                <a:solidFill>
                  <a:schemeClr val="accent2"/>
                </a:solidFill>
                <a:cs typeface="Cascadia Mono" panose="020B0609020000020004" pitchFamily="49" charset="0"/>
              </a:rPr>
              <a:t>choice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b="1" dirty="0">
              <a:solidFill>
                <a:schemeClr val="accent2"/>
              </a:solidFill>
              <a:cs typeface="Cascadia Mono" panose="020B0609020000020004" pitchFamily="49" charset="0"/>
            </a:endParaRPr>
          </a:p>
          <a:p>
            <a:r>
              <a:rPr lang="en-US" dirty="0"/>
              <a:t>Adding in condition? Or only check for </a:t>
            </a:r>
            <a:r>
              <a:rPr lang="en-US" b="1" dirty="0"/>
              <a:t>focus</a:t>
            </a:r>
            <a:r>
              <a:rPr lang="en-US" dirty="0"/>
              <a:t> condition? How to do this right?</a:t>
            </a:r>
          </a:p>
          <a:p>
            <a:pPr marL="2880" indent="0">
              <a:buNone/>
            </a:pPr>
            <a:r>
              <a:rPr lang="en-US" b="1" dirty="0">
                <a:solidFill>
                  <a:schemeClr val="accent2"/>
                </a:solidFill>
                <a:cs typeface="Cascadia Mono" panose="020B0609020000020004" pitchFamily="49" charset="0"/>
              </a:rPr>
              <a:t>choice ~ </a:t>
            </a:r>
            <a:r>
              <a:rPr lang="en-US" b="1" u="sng" dirty="0">
                <a:solidFill>
                  <a:schemeClr val="accent2"/>
                </a:solidFill>
                <a:cs typeface="Cascadia Mono" panose="020B0609020000020004" pitchFamily="49" charset="0"/>
              </a:rPr>
              <a:t>condition</a:t>
            </a:r>
            <a:r>
              <a:rPr lang="en-US" b="1" dirty="0">
                <a:solidFill>
                  <a:schemeClr val="accent2"/>
                </a:solidFill>
                <a:cs typeface="Cascadia Mono" panose="020B0609020000020004" pitchFamily="49" charset="0"/>
              </a:rPr>
              <a:t>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dirty="0">
              <a:solidFill>
                <a:schemeClr val="accent4"/>
              </a:solidFill>
            </a:endParaRPr>
          </a:p>
          <a:p>
            <a:pPr marL="2880" indent="0">
              <a:buNone/>
            </a:pPr>
            <a:r>
              <a:rPr lang="en-US" dirty="0">
                <a:solidFill>
                  <a:schemeClr val="accent5"/>
                </a:solidFill>
              </a:rPr>
              <a:t>RQ: How people interpret the pre-verbal focus</a:t>
            </a:r>
            <a:r>
              <a:rPr lang="hu-HU" dirty="0">
                <a:solidFill>
                  <a:schemeClr val="accent5"/>
                </a:solidFill>
              </a:rPr>
              <a:t> in </a:t>
            </a:r>
            <a:r>
              <a:rPr lang="hu-HU" dirty="0" err="1">
                <a:solidFill>
                  <a:schemeClr val="accent5"/>
                </a:solidFill>
              </a:rPr>
              <a:t>Hungarian</a:t>
            </a:r>
            <a:r>
              <a:rPr lang="en-US" dirty="0">
                <a:solidFill>
                  <a:schemeClr val="accent5"/>
                </a:solidFill>
              </a:rPr>
              <a:t> re. exclusivity?</a:t>
            </a:r>
          </a:p>
          <a:p>
            <a:pPr marL="2880" indent="0">
              <a:buNone/>
            </a:pPr>
            <a:r>
              <a:rPr lang="en-US" dirty="0">
                <a:solidFill>
                  <a:schemeClr val="accent4"/>
                </a:solidFill>
              </a:rPr>
              <a:t>What is our specific question here? What are we trying to understand?</a:t>
            </a:r>
          </a:p>
          <a:p>
            <a:pPr marL="2880" indent="0">
              <a:buNone/>
            </a:pPr>
            <a:r>
              <a:rPr lang="en-US" dirty="0">
                <a:solidFill>
                  <a:schemeClr val="accent4"/>
                </a:solidFill>
              </a:rPr>
              <a:t>How to utilize ET data to interpret the pre-verbal focus</a:t>
            </a:r>
            <a:r>
              <a:rPr lang="hu-HU" dirty="0">
                <a:solidFill>
                  <a:schemeClr val="accent4"/>
                </a:solidFill>
              </a:rPr>
              <a:t> in </a:t>
            </a:r>
            <a:r>
              <a:rPr lang="hu-HU" dirty="0" err="1">
                <a:solidFill>
                  <a:schemeClr val="accent4"/>
                </a:solidFill>
              </a:rPr>
              <a:t>Hungarian</a:t>
            </a:r>
            <a:r>
              <a:rPr lang="en-US" dirty="0">
                <a:solidFill>
                  <a:schemeClr val="accent4"/>
                </a:solidFill>
              </a:rPr>
              <a:t>?</a:t>
            </a:r>
            <a:endParaRPr lang="hu-HU" dirty="0">
              <a:cs typeface="Cascadia Mono" panose="020B0609020000020004" pitchFamily="49" charset="0"/>
            </a:endParaRPr>
          </a:p>
          <a:p>
            <a:pPr marL="2880" indent="0">
              <a:buNone/>
            </a:pPr>
            <a:endParaRPr lang="en-US" dirty="0"/>
          </a:p>
        </p:txBody>
      </p:sp>
    </p:spTree>
    <p:extLst>
      <p:ext uri="{BB962C8B-B14F-4D97-AF65-F5344CB8AC3E}">
        <p14:creationId xmlns:p14="http://schemas.microsoft.com/office/powerpoint/2010/main" val="1512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462C-F8B0-623B-6502-C77F6A612CDD}"/>
              </a:ext>
            </a:extLst>
          </p:cNvPr>
          <p:cNvSpPr>
            <a:spLocks noGrp="1"/>
          </p:cNvSpPr>
          <p:nvPr>
            <p:ph type="title"/>
          </p:nvPr>
        </p:nvSpPr>
        <p:spPr/>
        <p:txBody>
          <a:bodyPr>
            <a:normAutofit/>
          </a:bodyPr>
          <a:lstStyle/>
          <a:p>
            <a:r>
              <a:rPr lang="en-US" sz="7200" dirty="0"/>
              <a:t>Thank you, </a:t>
            </a:r>
          </a:p>
        </p:txBody>
      </p:sp>
      <p:sp>
        <p:nvSpPr>
          <p:cNvPr id="3" name="Text Placeholder 2">
            <a:extLst>
              <a:ext uri="{FF2B5EF4-FFF2-40B4-BE49-F238E27FC236}">
                <a16:creationId xmlns:a16="http://schemas.microsoft.com/office/drawing/2014/main" id="{854514E0-4024-FAE7-BF84-6A66CF05A389}"/>
              </a:ext>
            </a:extLst>
          </p:cNvPr>
          <p:cNvSpPr>
            <a:spLocks noGrp="1"/>
          </p:cNvSpPr>
          <p:nvPr>
            <p:ph type="body" idx="1"/>
          </p:nvPr>
        </p:nvSpPr>
        <p:spPr/>
        <p:txBody>
          <a:bodyPr>
            <a:normAutofit/>
          </a:bodyPr>
          <a:lstStyle/>
          <a:p>
            <a:r>
              <a:rPr lang="en-US" sz="3600" dirty="0"/>
              <a:t>Now help me discuss :)</a:t>
            </a:r>
          </a:p>
        </p:txBody>
      </p:sp>
      <p:sp>
        <p:nvSpPr>
          <p:cNvPr id="4" name="Slide Number Placeholder 3">
            <a:extLst>
              <a:ext uri="{FF2B5EF4-FFF2-40B4-BE49-F238E27FC236}">
                <a16:creationId xmlns:a16="http://schemas.microsoft.com/office/drawing/2014/main" id="{8FFCA26F-809A-36A8-E955-52CF8D4192C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26452374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48AABF-008B-0705-8549-BC326A39B7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42</a:t>
            </a:fld>
            <a:endParaRPr lang="en-US" dirty="0"/>
          </a:p>
        </p:txBody>
      </p:sp>
      <p:sp>
        <p:nvSpPr>
          <p:cNvPr id="3" name="Title 2">
            <a:extLst>
              <a:ext uri="{FF2B5EF4-FFF2-40B4-BE49-F238E27FC236}">
                <a16:creationId xmlns:a16="http://schemas.microsoft.com/office/drawing/2014/main" id="{86BB92C7-78C3-5ED4-55DE-38DCD432D711}"/>
              </a:ext>
            </a:extLst>
          </p:cNvPr>
          <p:cNvSpPr>
            <a:spLocks noGrp="1"/>
          </p:cNvSpPr>
          <p:nvPr>
            <p:ph type="title"/>
          </p:nvPr>
        </p:nvSpPr>
        <p:spPr/>
        <p:txBody>
          <a:bodyPr>
            <a:normAutofit fontScale="90000"/>
          </a:bodyPr>
          <a:lstStyle/>
          <a:p>
            <a:endParaRPr lang="en-US"/>
          </a:p>
        </p:txBody>
      </p:sp>
      <p:sp>
        <p:nvSpPr>
          <p:cNvPr id="4" name="Content Placeholder 3">
            <a:extLst>
              <a:ext uri="{FF2B5EF4-FFF2-40B4-BE49-F238E27FC236}">
                <a16:creationId xmlns:a16="http://schemas.microsoft.com/office/drawing/2014/main" id="{2BEB1C4F-A965-7236-A5F6-80B08D21DE8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9666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0146-A04E-7C75-312D-CEF9DF697CB6}"/>
              </a:ext>
            </a:extLst>
          </p:cNvPr>
          <p:cNvSpPr>
            <a:spLocks noGrp="1"/>
          </p:cNvSpPr>
          <p:nvPr>
            <p:ph type="title"/>
          </p:nvPr>
        </p:nvSpPr>
        <p:spPr>
          <a:xfrm>
            <a:off x="1261872" y="365760"/>
            <a:ext cx="9692640" cy="658707"/>
          </a:xfrm>
        </p:spPr>
        <p:txBody>
          <a:bodyPr>
            <a:normAutofit fontScale="90000"/>
          </a:bodyPr>
          <a:lstStyle/>
          <a:p>
            <a:r>
              <a:rPr lang="en-US" dirty="0"/>
              <a:t>Two experiments</a:t>
            </a:r>
            <a:endParaRPr lang="hu-HU" dirty="0"/>
          </a:p>
        </p:txBody>
      </p:sp>
      <p:sp>
        <p:nvSpPr>
          <p:cNvPr id="3" name="Content Placeholder 2">
            <a:extLst>
              <a:ext uri="{FF2B5EF4-FFF2-40B4-BE49-F238E27FC236}">
                <a16:creationId xmlns:a16="http://schemas.microsoft.com/office/drawing/2014/main" id="{04AB75DE-FF2B-28BD-5AEA-EFAA0D1301EA}"/>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p:txBody>
      </p:sp>
      <p:sp>
        <p:nvSpPr>
          <p:cNvPr id="4" name="Slide Number Placeholder 3">
            <a:extLst>
              <a:ext uri="{FF2B5EF4-FFF2-40B4-BE49-F238E27FC236}">
                <a16:creationId xmlns:a16="http://schemas.microsoft.com/office/drawing/2014/main" id="{82D5739D-F13D-26DA-B0A1-3E5174855D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3829102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306836-928A-9AFA-2579-A783C379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C8EE-623F-6CBB-81CF-368A1C059F67}"/>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9A072D59-537B-DCAA-426A-FD250A64A97C}"/>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r>
              <a:rPr lang="en-US" dirty="0"/>
              <a:t>3 conditions, 18 items</a:t>
            </a:r>
          </a:p>
          <a:p>
            <a:pPr marL="0" indent="0">
              <a:buNone/>
            </a:pPr>
            <a:endParaRPr lang="en-US" dirty="0"/>
          </a:p>
        </p:txBody>
      </p:sp>
      <p:sp>
        <p:nvSpPr>
          <p:cNvPr id="4" name="Slide Number Placeholder 3">
            <a:extLst>
              <a:ext uri="{FF2B5EF4-FFF2-40B4-BE49-F238E27FC236}">
                <a16:creationId xmlns:a16="http://schemas.microsoft.com/office/drawing/2014/main" id="{7DEC8F5F-0A18-8154-5778-16D101A4A1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956563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C1510D-D186-4066-F6D9-7D88362D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C770-3FE6-EDFC-38FD-01611FFA728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487C6A88-E1FA-2BDC-C527-96F17541BDA5}"/>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9" name="TextBox 8">
            <a:extLst>
              <a:ext uri="{FF2B5EF4-FFF2-40B4-BE49-F238E27FC236}">
                <a16:creationId xmlns:a16="http://schemas.microsoft.com/office/drawing/2014/main" id="{035205F9-966B-109A-E3AD-F4A0589CB086}"/>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D43462BD-7E25-5B5B-84C3-E9D78F7018A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3843138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BEE918-BFEB-BE06-B083-994013DA7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7B23-B3DC-7258-3E3C-6C30C4A4C84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A0E1A5EA-CB53-0BAC-7447-B86778F8D4FD}"/>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6C10E39C-B11B-0DCB-140C-EC53A7084A5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564851BE-B2D3-79EB-083A-61E369C3AA7A}"/>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E69CE100-A595-9833-513D-1FB5768BCB9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2368331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CBB7B5-FE59-2387-B8F3-BB88676FE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901C-7866-21FF-F61F-AB4EC4A063BC}"/>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CC6F53DE-FECB-F7E9-4B4E-01BFA489ADD3}"/>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7C3F57B1-39DA-31FA-0A34-9D43854D729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27F3F926-AA8C-6FF3-93C7-8D05BF4CB572}"/>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a:t>
            </a:r>
            <a:r>
              <a:rPr lang="hu-HU" b="1" dirty="0">
                <a:solidFill>
                  <a:srgbClr val="92D050"/>
                </a:solidFill>
              </a:rPr>
              <a:t>csak</a:t>
            </a:r>
            <a:r>
              <a:rPr lang="hu-HU" b="1" dirty="0"/>
              <a:t>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a:t>
            </a:r>
            <a:r>
              <a:rPr lang="hu-HU" b="1" dirty="0">
                <a:solidFill>
                  <a:srgbClr val="92D050"/>
                </a:solidFill>
              </a:rPr>
              <a:t>többek	között</a:t>
            </a:r>
            <a:r>
              <a:rPr lang="hu-HU" b="1" dirty="0"/>
              <a: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041FECEC-E3E5-245C-95B2-6E247584D63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3316860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2A9A51-2005-5796-C9E7-B80F0D5F6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F8B8-92C8-CB8F-3C7F-7B306D1B35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66CC975C-F99D-893E-05A8-482A15D4F6D7}"/>
              </a:ext>
            </a:extLst>
          </p:cNvPr>
          <p:cNvSpPr>
            <a:spLocks noGrp="1"/>
          </p:cNvSpPr>
          <p:nvPr>
            <p:ph idx="4294967295"/>
          </p:nvPr>
        </p:nvSpPr>
        <p:spPr>
          <a:xfrm>
            <a:off x="1103312" y="2052918"/>
            <a:ext cx="8946541" cy="426558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E2E0E484-635A-EAD6-7EA3-B76CD1453A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3025546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6DF2F5-88A6-1877-5FC7-F62873FE0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FD71-D217-6BDE-0A33-EF2ECBDAFD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4F8A4F85-6FE6-775B-46B8-88DBF67065A9}"/>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685800" lvl="1"/>
            <a:r>
              <a:rPr lang="en-US" dirty="0"/>
              <a:t>2 halves, 3 conditions, 18 items</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4B898CE0-179F-6A28-9473-BD26614853D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4071999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B8975-590F-42D4-FC00-54C0DCD5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3C308-F2EC-07E5-35C3-D78E39128849}"/>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0310A9F-B466-54AE-B946-A529094D3C5A}"/>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169BE7F1-71DA-A390-E953-14BACEA0F235}"/>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4" name="Slide Number Placeholder 3">
            <a:extLst>
              <a:ext uri="{FF2B5EF4-FFF2-40B4-BE49-F238E27FC236}">
                <a16:creationId xmlns:a16="http://schemas.microsoft.com/office/drawing/2014/main" id="{BFA423BD-588B-24B8-6D5A-F918ED2B344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4623584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CCDE47-3E18-2BD4-C49C-CB86F27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9C3-A105-63D6-ED45-A4522A371755}"/>
              </a:ext>
            </a:extLst>
          </p:cNvPr>
          <p:cNvSpPr>
            <a:spLocks noGrp="1"/>
          </p:cNvSpPr>
          <p:nvPr>
            <p:ph type="title"/>
          </p:nvPr>
        </p:nvSpPr>
        <p:spPr>
          <a:xfrm>
            <a:off x="1261872" y="365760"/>
            <a:ext cx="9692640" cy="658707"/>
          </a:xfrm>
        </p:spPr>
        <p:txBody>
          <a:bodyPr>
            <a:normAutofit fontScale="90000"/>
          </a:bodyPr>
          <a:lstStyle/>
          <a:p>
            <a:r>
              <a:rPr lang="en-US" dirty="0"/>
              <a:t>Two experiments: 2A</a:t>
            </a:r>
            <a:endParaRPr lang="hu-HU" dirty="0"/>
          </a:p>
        </p:txBody>
      </p:sp>
      <p:sp>
        <p:nvSpPr>
          <p:cNvPr id="3" name="Content Placeholder 2">
            <a:extLst>
              <a:ext uri="{FF2B5EF4-FFF2-40B4-BE49-F238E27FC236}">
                <a16:creationId xmlns:a16="http://schemas.microsoft.com/office/drawing/2014/main" id="{17A7D9BF-D5FE-1ED5-5562-CE09B86059E5}"/>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0F1B379C-E466-4242-AAAA-C2DDEAD3D38F}"/>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0A38779B-1F7B-7D50-472D-B4DEB702AB9A}"/>
              </a:ext>
            </a:extLst>
          </p:cNvPr>
          <p:cNvSpPr txBox="1"/>
          <p:nvPr/>
        </p:nvSpPr>
        <p:spPr>
          <a:xfrm>
            <a:off x="0" y="1853248"/>
            <a:ext cx="6094476" cy="2585323"/>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p>
        </p:txBody>
      </p:sp>
      <p:sp>
        <p:nvSpPr>
          <p:cNvPr id="4" name="Slide Number Placeholder 3">
            <a:extLst>
              <a:ext uri="{FF2B5EF4-FFF2-40B4-BE49-F238E27FC236}">
                <a16:creationId xmlns:a16="http://schemas.microsoft.com/office/drawing/2014/main" id="{EDFB554B-A3C0-E228-948D-AF13B62A516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252358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43117E-2E0B-8A49-6D21-A79321C3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3CFA-5462-0169-220C-FA433C74C36C}"/>
              </a:ext>
            </a:extLst>
          </p:cNvPr>
          <p:cNvSpPr>
            <a:spLocks noGrp="1"/>
          </p:cNvSpPr>
          <p:nvPr>
            <p:ph type="title"/>
          </p:nvPr>
        </p:nvSpPr>
        <p:spPr>
          <a:xfrm>
            <a:off x="1261872" y="365760"/>
            <a:ext cx="9692640" cy="658707"/>
          </a:xfrm>
        </p:spPr>
        <p:txBody>
          <a:bodyPr>
            <a:normAutofit fontScale="90000"/>
          </a:bodyPr>
          <a:lstStyle/>
          <a:p>
            <a:r>
              <a:rPr lang="en-US" dirty="0"/>
              <a:t>Two experiments: 2A - verb</a:t>
            </a:r>
            <a:endParaRPr lang="hu-HU" dirty="0"/>
          </a:p>
        </p:txBody>
      </p:sp>
      <p:sp>
        <p:nvSpPr>
          <p:cNvPr id="3" name="Content Placeholder 2">
            <a:extLst>
              <a:ext uri="{FF2B5EF4-FFF2-40B4-BE49-F238E27FC236}">
                <a16:creationId xmlns:a16="http://schemas.microsoft.com/office/drawing/2014/main" id="{3C499743-B60C-2D6D-F060-80F117715EFE}"/>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77FA5D25-98F4-221F-BD6C-15ED4D322EB1}"/>
              </a:ext>
            </a:extLst>
          </p:cNvPr>
          <p:cNvSpPr txBox="1"/>
          <p:nvPr/>
        </p:nvSpPr>
        <p:spPr>
          <a:xfrm>
            <a:off x="1764792" y="1853248"/>
            <a:ext cx="10011188" cy="3139321"/>
          </a:xfrm>
          <a:prstGeom prst="rect">
            <a:avLst/>
          </a:prstGeom>
          <a:noFill/>
        </p:spPr>
        <p:txBody>
          <a:bodyPr wrap="square">
            <a:spAutoFit/>
          </a:bodyPr>
          <a:lstStyle/>
          <a:p>
            <a:r>
              <a:rPr lang="hu-HU" b="1" dirty="0"/>
              <a:t>A szakács	említette	hogy	a dolgozó	</a:t>
            </a:r>
            <a:r>
              <a:rPr lang="hu-HU" b="1" dirty="0">
                <a:solidFill>
                  <a:schemeClr val="accent1"/>
                </a:solidFill>
              </a:rPr>
              <a:t>kérkedett</a:t>
            </a:r>
            <a:r>
              <a:rPr lang="hu-HU" b="1" dirty="0"/>
              <a: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a:t>
            </a:r>
            <a:r>
              <a:rPr lang="hu-HU" b="1" dirty="0">
                <a:solidFill>
                  <a:schemeClr val="accent1"/>
                </a:solidFill>
              </a:rPr>
              <a:t>megdicsérte</a:t>
            </a:r>
            <a:r>
              <a:rPr lang="hu-HU" b="1" dirty="0"/>
              <a:t>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a:t>
            </a:r>
            <a:r>
              <a:rPr lang="hu-HU" b="1" dirty="0">
                <a:solidFill>
                  <a:schemeClr val="accent1"/>
                </a:solidFill>
              </a:rPr>
              <a:t>kérkedett</a:t>
            </a:r>
            <a:r>
              <a:rPr lang="hu-HU" b="1" dirty="0"/>
              <a: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54B15585-BDE7-BE0C-A376-7054332D6793}"/>
              </a:ext>
            </a:extLst>
          </p:cNvPr>
          <p:cNvSpPr txBox="1"/>
          <p:nvPr/>
        </p:nvSpPr>
        <p:spPr>
          <a:xfrm>
            <a:off x="0" y="1853248"/>
            <a:ext cx="4782312" cy="3416320"/>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endParaRPr lang="en-US" b="1" dirty="0">
              <a:solidFill>
                <a:schemeClr val="accent4"/>
              </a:solidFill>
            </a:endParaRPr>
          </a:p>
          <a:p>
            <a:endParaRPr lang="en-US" b="1" dirty="0">
              <a:solidFill>
                <a:schemeClr val="accent4"/>
              </a:solidFill>
            </a:endParaRPr>
          </a:p>
          <a:p>
            <a:endParaRPr lang="en-US" b="1" dirty="0">
              <a:solidFill>
                <a:schemeClr val="accent4"/>
              </a:solidFill>
            </a:endParaRPr>
          </a:p>
          <a:p>
            <a:r>
              <a:rPr lang="en-US" b="1" dirty="0">
                <a:solidFill>
                  <a:schemeClr val="accent4"/>
                </a:solidFill>
              </a:rPr>
              <a:t>other-directed-x</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1E7185BB-98F7-5038-8F45-4DBFE9572E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26740868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92B541-694F-1F0F-C6B4-12F78338D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D5DD2-33DA-4850-B1B1-A2DC25E4E9A8}"/>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37CE1976-2287-E37A-F088-2C00EC3E2F3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FEC201E8-C1F6-ACD2-8042-FDC8C7E67428}"/>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4" name="Slide Number Placeholder 3">
            <a:extLst>
              <a:ext uri="{FF2B5EF4-FFF2-40B4-BE49-F238E27FC236}">
                <a16:creationId xmlns:a16="http://schemas.microsoft.com/office/drawing/2014/main" id="{1AAE7031-8240-0604-D3E5-0074B6824AF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2755741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863721-0F0E-C26F-C518-FA38271C9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B822-64FC-FD7F-7F53-C8CDD5969315}"/>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D92A3A91-220A-93D3-E15B-2F42EF184E48}"/>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B9658AA8-D26B-922B-1EFB-BD2ECE5C235E}"/>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89A4062C-BFC3-65E9-621F-92FD6D93B822}"/>
              </a:ext>
            </a:extLst>
          </p:cNvPr>
          <p:cNvSpPr txBox="1"/>
          <p:nvPr/>
        </p:nvSpPr>
        <p:spPr>
          <a:xfrm>
            <a:off x="1524" y="1853248"/>
            <a:ext cx="6094476"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AA6716FE-F565-34C1-DEDF-76DA2CD63E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17380108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3F4FDF-F8A9-F280-6E91-E3C383A0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6D45-2F57-1FF5-7484-452B4FDC67C0}"/>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630D1BFE-9879-39EE-0427-68242672865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564253DA-AB1A-2874-244E-22FB07B6B2EB}"/>
              </a:ext>
            </a:extLst>
          </p:cNvPr>
          <p:cNvSpPr txBox="1"/>
          <p:nvPr/>
        </p:nvSpPr>
        <p:spPr>
          <a:xfrm>
            <a:off x="1508760" y="1853248"/>
            <a:ext cx="10267220" cy="2585323"/>
          </a:xfrm>
          <a:prstGeom prst="rect">
            <a:avLst/>
          </a:prstGeom>
          <a:noFill/>
        </p:spPr>
        <p:txBody>
          <a:bodyPr wrap="square">
            <a:spAutoFit/>
          </a:bodyPr>
          <a:lstStyle/>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solidFill>
                  <a:schemeClr val="accent3"/>
                </a:solidFill>
              </a:rPr>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3"/>
                </a:solidFill>
              </a:rPr>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18777000-E4B1-C9BD-6301-F30EEFB2D265}"/>
              </a:ext>
            </a:extLst>
          </p:cNvPr>
          <p:cNvSpPr txBox="1"/>
          <p:nvPr/>
        </p:nvSpPr>
        <p:spPr>
          <a:xfrm>
            <a:off x="1524" y="1853248"/>
            <a:ext cx="1662684"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E0970D64-7361-DA19-5996-0E4EC8010D6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55</a:t>
            </a:fld>
            <a:endParaRPr lang="en-US" dirty="0"/>
          </a:p>
        </p:txBody>
      </p:sp>
    </p:spTree>
    <p:extLst>
      <p:ext uri="{BB962C8B-B14F-4D97-AF65-F5344CB8AC3E}">
        <p14:creationId xmlns:p14="http://schemas.microsoft.com/office/powerpoint/2010/main" val="2754863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C5AD13-20C4-49BA-B6F2-1F1D29948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5384-7F2F-1802-F140-ED2F1AF64F85}"/>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D921E8D-55E4-EE48-FD30-F01B4EA07AA4}"/>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457200" indent="-457200">
              <a:buFont typeface="+mj-lt"/>
              <a:buAutoNum type="arabicPeriod"/>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p:txBody>
      </p:sp>
      <p:sp>
        <p:nvSpPr>
          <p:cNvPr id="4" name="TextBox 3">
            <a:extLst>
              <a:ext uri="{FF2B5EF4-FFF2-40B4-BE49-F238E27FC236}">
                <a16:creationId xmlns:a16="http://schemas.microsoft.com/office/drawing/2014/main" id="{F4A02650-B80E-3B90-8E70-7742D298E8AA}"/>
              </a:ext>
            </a:extLst>
          </p:cNvPr>
          <p:cNvSpPr txBox="1"/>
          <p:nvPr/>
        </p:nvSpPr>
        <p:spPr>
          <a:xfrm>
            <a:off x="2670047" y="3429000"/>
            <a:ext cx="7379805" cy="1384995"/>
          </a:xfrm>
          <a:prstGeom prst="rect">
            <a:avLst/>
          </a:prstGeom>
          <a:noFill/>
        </p:spPr>
        <p:txBody>
          <a:bodyPr wrap="square">
            <a:spAutoFit/>
          </a:bodyPr>
          <a:lstStyle/>
          <a:p>
            <a:r>
              <a:rPr lang="en-US" sz="2800" dirty="0"/>
              <a:t>The two will serve as each other’s fillers.</a:t>
            </a:r>
          </a:p>
          <a:p>
            <a:endParaRPr lang="en-US" sz="2800" dirty="0"/>
          </a:p>
          <a:p>
            <a:r>
              <a:rPr lang="en-US" sz="2800" dirty="0"/>
              <a:t>Stimuli is ready but needs checking.</a:t>
            </a:r>
          </a:p>
        </p:txBody>
      </p:sp>
      <p:sp>
        <p:nvSpPr>
          <p:cNvPr id="5" name="Slide Number Placeholder 4">
            <a:extLst>
              <a:ext uri="{FF2B5EF4-FFF2-40B4-BE49-F238E27FC236}">
                <a16:creationId xmlns:a16="http://schemas.microsoft.com/office/drawing/2014/main" id="{DAD009B1-A1D2-FE43-8540-955EA71E3D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8929445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F9AA-6F57-1254-0EF0-7DC6B201CF5B}"/>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2868C5BE-4602-155B-77CD-F051F5464F10}"/>
              </a:ext>
            </a:extLst>
          </p:cNvPr>
          <p:cNvSpPr>
            <a:spLocks noGrp="1"/>
          </p:cNvSpPr>
          <p:nvPr>
            <p:ph idx="4294967295"/>
          </p:nvPr>
        </p:nvSpPr>
        <p:spPr>
          <a:xfrm>
            <a:off x="1103313" y="2052918"/>
            <a:ext cx="4209352" cy="4195481"/>
          </a:xfrm>
        </p:spPr>
        <p:txBody>
          <a:bodyPr>
            <a:normAutofit fontScale="92500" lnSpcReduction="10000"/>
          </a:bodyPr>
          <a:lstStyle/>
          <a:p>
            <a:pPr marL="0" indent="0">
              <a:buNone/>
            </a:pPr>
            <a:r>
              <a:rPr lang="en-US" sz="3600" dirty="0"/>
              <a:t>1</a:t>
            </a:r>
            <a:endParaRPr lang="en-US" sz="3200" dirty="0"/>
          </a:p>
          <a:p>
            <a:r>
              <a:rPr lang="en-US" dirty="0"/>
              <a:t>Preview of image pair</a:t>
            </a:r>
          </a:p>
          <a:p>
            <a:r>
              <a:rPr lang="en-US" dirty="0"/>
              <a:t>+</a:t>
            </a:r>
          </a:p>
          <a:p>
            <a:r>
              <a:rPr lang="en-US" dirty="0"/>
              <a:t>Self-paced reading of sentence in fixed window</a:t>
            </a:r>
          </a:p>
          <a:p>
            <a:r>
              <a:rPr lang="en-US" dirty="0"/>
              <a:t>+</a:t>
            </a:r>
          </a:p>
          <a:p>
            <a:r>
              <a:rPr lang="en-US" dirty="0"/>
              <a:t>Choice from image pair</a:t>
            </a:r>
          </a:p>
          <a:p>
            <a:endParaRPr lang="hu-HU" dirty="0"/>
          </a:p>
        </p:txBody>
      </p:sp>
      <p:sp>
        <p:nvSpPr>
          <p:cNvPr id="4" name="Right Brace 3">
            <a:extLst>
              <a:ext uri="{FF2B5EF4-FFF2-40B4-BE49-F238E27FC236}">
                <a16:creationId xmlns:a16="http://schemas.microsoft.com/office/drawing/2014/main" id="{6389A1B4-87D2-0B9D-9E18-FEED5246742F}"/>
              </a:ext>
            </a:extLst>
          </p:cNvPr>
          <p:cNvSpPr/>
          <p:nvPr/>
        </p:nvSpPr>
        <p:spPr>
          <a:xfrm>
            <a:off x="4854593" y="4694355"/>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5" name="Rectangle: Rounded Corners 4">
            <a:extLst>
              <a:ext uri="{FF2B5EF4-FFF2-40B4-BE49-F238E27FC236}">
                <a16:creationId xmlns:a16="http://schemas.microsoft.com/office/drawing/2014/main" id="{E6668652-35AF-EA75-B2A3-1F9387A998C7}"/>
              </a:ext>
            </a:extLst>
          </p:cNvPr>
          <p:cNvSpPr/>
          <p:nvPr/>
        </p:nvSpPr>
        <p:spPr>
          <a:xfrm>
            <a:off x="5312665" y="4636008"/>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6" name="Content Placeholder 2">
            <a:extLst>
              <a:ext uri="{FF2B5EF4-FFF2-40B4-BE49-F238E27FC236}">
                <a16:creationId xmlns:a16="http://schemas.microsoft.com/office/drawing/2014/main" id="{DAA79554-0DF1-3A99-66C4-CD47F3F677AC}"/>
              </a:ext>
            </a:extLst>
          </p:cNvPr>
          <p:cNvSpPr txBox="1">
            <a:spLocks/>
          </p:cNvSpPr>
          <p:nvPr/>
        </p:nvSpPr>
        <p:spPr>
          <a:xfrm>
            <a:off x="6586665" y="2052918"/>
            <a:ext cx="420935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3600" dirty="0"/>
              <a:t>2</a:t>
            </a:r>
          </a:p>
          <a:p>
            <a:r>
              <a:rPr lang="en-US" dirty="0"/>
              <a:t>Preview of word pair</a:t>
            </a:r>
          </a:p>
          <a:p>
            <a:r>
              <a:rPr lang="en-US" dirty="0"/>
              <a:t>+</a:t>
            </a:r>
          </a:p>
          <a:p>
            <a:r>
              <a:rPr lang="en-US" dirty="0"/>
              <a:t>Self-paced reading of sentence in fixed window</a:t>
            </a:r>
          </a:p>
          <a:p>
            <a:r>
              <a:rPr lang="en-US" b="1" dirty="0"/>
              <a:t>Question</a:t>
            </a:r>
          </a:p>
          <a:p>
            <a:r>
              <a:rPr lang="en-US" dirty="0"/>
              <a:t>+</a:t>
            </a:r>
          </a:p>
          <a:p>
            <a:r>
              <a:rPr lang="en-US" dirty="0"/>
              <a:t>Choice from word pair</a:t>
            </a:r>
          </a:p>
          <a:p>
            <a:endParaRPr lang="hu-HU" dirty="0"/>
          </a:p>
        </p:txBody>
      </p:sp>
      <p:sp>
        <p:nvSpPr>
          <p:cNvPr id="7" name="Right Brace 6">
            <a:extLst>
              <a:ext uri="{FF2B5EF4-FFF2-40B4-BE49-F238E27FC236}">
                <a16:creationId xmlns:a16="http://schemas.microsoft.com/office/drawing/2014/main" id="{4B4D6ADF-472D-D6B2-755B-CE7B46030945}"/>
              </a:ext>
            </a:extLst>
          </p:cNvPr>
          <p:cNvSpPr/>
          <p:nvPr/>
        </p:nvSpPr>
        <p:spPr>
          <a:xfrm>
            <a:off x="10310513" y="5114979"/>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8" name="Rectangle: Rounded Corners 7">
            <a:extLst>
              <a:ext uri="{FF2B5EF4-FFF2-40B4-BE49-F238E27FC236}">
                <a16:creationId xmlns:a16="http://schemas.microsoft.com/office/drawing/2014/main" id="{14DAE624-173C-D3E4-BF6F-AC6CD5478F5C}"/>
              </a:ext>
            </a:extLst>
          </p:cNvPr>
          <p:cNvSpPr/>
          <p:nvPr/>
        </p:nvSpPr>
        <p:spPr>
          <a:xfrm>
            <a:off x="10768585" y="5056632"/>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9" name="Slide Number Placeholder 8">
            <a:extLst>
              <a:ext uri="{FF2B5EF4-FFF2-40B4-BE49-F238E27FC236}">
                <a16:creationId xmlns:a16="http://schemas.microsoft.com/office/drawing/2014/main" id="{51A7104E-FDD8-9FB5-EA6B-31CCDCA917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41339742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F1D35E-F906-4B31-4C4C-FDC5F9A56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5BFF-A762-E712-5411-5A3F6FA0514A}"/>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E7DFFF39-00DB-CF93-4EC4-834FB06A2257}"/>
              </a:ext>
            </a:extLst>
          </p:cNvPr>
          <p:cNvSpPr>
            <a:spLocks noGrp="1"/>
          </p:cNvSpPr>
          <p:nvPr>
            <p:ph idx="4294967295"/>
          </p:nvPr>
        </p:nvSpPr>
        <p:spPr>
          <a:xfrm>
            <a:off x="1103313" y="2052919"/>
            <a:ext cx="10269544" cy="2436786"/>
          </a:xfrm>
        </p:spPr>
        <p:txBody>
          <a:bodyPr/>
          <a:lstStyle/>
          <a:p>
            <a:pPr marL="0" indent="0">
              <a:buNone/>
            </a:pPr>
            <a:r>
              <a:rPr lang="en-US" sz="3600" dirty="0"/>
              <a:t>36 items x 3 conditions =108</a:t>
            </a:r>
          </a:p>
          <a:p>
            <a:pPr marL="0" indent="0">
              <a:buNone/>
            </a:pPr>
            <a:r>
              <a:rPr lang="en-US" sz="3600" dirty="0"/>
              <a:t>108/3 groups = 36 items per pax</a:t>
            </a:r>
          </a:p>
          <a:p>
            <a:pPr marL="0" indent="0">
              <a:buNone/>
            </a:pPr>
            <a:r>
              <a:rPr lang="en-US" sz="3600" dirty="0"/>
              <a:t>+ attention checks? Maybe 4?</a:t>
            </a:r>
            <a:endParaRPr lang="hu-HU" dirty="0"/>
          </a:p>
        </p:txBody>
      </p:sp>
      <p:sp>
        <p:nvSpPr>
          <p:cNvPr id="4" name="Slide Number Placeholder 3">
            <a:extLst>
              <a:ext uri="{FF2B5EF4-FFF2-40B4-BE49-F238E27FC236}">
                <a16:creationId xmlns:a16="http://schemas.microsoft.com/office/drawing/2014/main" id="{6C12201A-A082-970C-A9C7-632D423249E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4109795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D16A-0C78-C41D-28BF-C7196830A885}"/>
              </a:ext>
            </a:extLst>
          </p:cNvPr>
          <p:cNvSpPr>
            <a:spLocks noGrp="1"/>
          </p:cNvSpPr>
          <p:nvPr>
            <p:ph type="title"/>
          </p:nvPr>
        </p:nvSpPr>
        <p:spPr>
          <a:xfrm>
            <a:off x="1261872" y="365760"/>
            <a:ext cx="9692640" cy="658707"/>
          </a:xfrm>
        </p:spPr>
        <p:txBody>
          <a:bodyPr>
            <a:normAutofit fontScale="90000"/>
          </a:bodyPr>
          <a:lstStyle/>
          <a:p>
            <a:r>
              <a:rPr lang="hu-HU" dirty="0" err="1"/>
              <a:t>Problems</a:t>
            </a:r>
            <a:endParaRPr lang="hu-HU" dirty="0"/>
          </a:p>
        </p:txBody>
      </p:sp>
      <p:sp>
        <p:nvSpPr>
          <p:cNvPr id="3" name="Content Placeholder 2">
            <a:extLst>
              <a:ext uri="{FF2B5EF4-FFF2-40B4-BE49-F238E27FC236}">
                <a16:creationId xmlns:a16="http://schemas.microsoft.com/office/drawing/2014/main" id="{78464E3D-8563-8598-B1F9-F67BF77FE33B}"/>
              </a:ext>
            </a:extLst>
          </p:cNvPr>
          <p:cNvSpPr>
            <a:spLocks noGrp="1"/>
          </p:cNvSpPr>
          <p:nvPr>
            <p:ph idx="4294967295"/>
          </p:nvPr>
        </p:nvSpPr>
        <p:spPr>
          <a:xfrm>
            <a:off x="1103312" y="1262744"/>
            <a:ext cx="10527856" cy="4985656"/>
          </a:xfrm>
        </p:spPr>
        <p:txBody>
          <a:bodyPr>
            <a:normAutofit fontScale="92500"/>
          </a:bodyPr>
          <a:lstStyle/>
          <a:p>
            <a:r>
              <a:rPr lang="en-US" dirty="0"/>
              <a:t>After around 60-80 hours of PCIbex and 200-300 test runs, I can say that</a:t>
            </a:r>
          </a:p>
          <a:p>
            <a:r>
              <a:rPr lang="hu-HU" dirty="0" err="1"/>
              <a:t>PCIBex</a:t>
            </a:r>
            <a:r>
              <a:rPr lang="hu-HU" dirty="0"/>
              <a:t> is a </a:t>
            </a:r>
            <a:r>
              <a:rPr lang="hu-HU" dirty="0" err="1"/>
              <a:t>broken</a:t>
            </a:r>
            <a:r>
              <a:rPr lang="hu-HU" dirty="0"/>
              <a:t>, </a:t>
            </a:r>
            <a:r>
              <a:rPr lang="hu-HU" dirty="0" err="1"/>
              <a:t>unfinished</a:t>
            </a:r>
            <a:r>
              <a:rPr lang="hu-HU" dirty="0"/>
              <a:t>, and </a:t>
            </a:r>
            <a:r>
              <a:rPr lang="hu-HU" dirty="0" err="1"/>
              <a:t>unstable</a:t>
            </a:r>
            <a:r>
              <a:rPr lang="hu-HU" dirty="0"/>
              <a:t> software.</a:t>
            </a:r>
            <a:endParaRPr lang="en-US" dirty="0"/>
          </a:p>
          <a:p>
            <a:r>
              <a:rPr lang="en-US" dirty="0"/>
              <a:t>Support is minimal, error messages are non-existent, documentation is porous.</a:t>
            </a:r>
          </a:p>
          <a:p>
            <a:r>
              <a:rPr lang="en-US" dirty="0"/>
              <a:t>Besides this, eye-tracking results have 0s, in every browser, every lighting, with or without glasses. Will try to dig in code more, but the tracker works and records time but not fixations. The problem is somewhere in my setup.</a:t>
            </a:r>
          </a:p>
          <a:p>
            <a:r>
              <a:rPr lang="en-US" dirty="0"/>
              <a:t>Eye-tracking testing is miserable. (You must calibrate every time to even try), but you cannot see what is going on, there are no logs or explanations, it’s in the background running on their servers.</a:t>
            </a:r>
          </a:p>
          <a:p>
            <a:endParaRPr lang="en-US" dirty="0"/>
          </a:p>
          <a:p>
            <a:endParaRPr lang="hu-HU" dirty="0"/>
          </a:p>
          <a:p>
            <a:endParaRPr lang="hu-HU" dirty="0"/>
          </a:p>
        </p:txBody>
      </p:sp>
      <p:sp>
        <p:nvSpPr>
          <p:cNvPr id="4" name="Slide Number Placeholder 3">
            <a:extLst>
              <a:ext uri="{FF2B5EF4-FFF2-40B4-BE49-F238E27FC236}">
                <a16:creationId xmlns:a16="http://schemas.microsoft.com/office/drawing/2014/main" id="{65DE5A39-3D04-D22B-5792-19A635E8C97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59</a:t>
            </a:fld>
            <a:endParaRPr lang="en-US" dirty="0"/>
          </a:p>
        </p:txBody>
      </p:sp>
    </p:spTree>
    <p:extLst>
      <p:ext uri="{BB962C8B-B14F-4D97-AF65-F5344CB8AC3E}">
        <p14:creationId xmlns:p14="http://schemas.microsoft.com/office/powerpoint/2010/main" val="1803289097"/>
      </p:ext>
    </p:extLst>
  </p:cSld>
  <p:clrMapOvr>
    <a:masterClrMapping/>
  </p:clrMapOvr>
</p:sld>
</file>

<file path=ppt/theme/theme1.xml><?xml version="1.0" encoding="utf-8"?>
<a:theme xmlns:a="http://schemas.openxmlformats.org/drawingml/2006/main" name="View">
  <a:themeElements>
    <a:clrScheme name="Nord Light">
      <a:dk1>
        <a:srgbClr val="ECEFF4"/>
      </a:dk1>
      <a:lt1>
        <a:srgbClr val="2E3440"/>
      </a:lt1>
      <a:dk2>
        <a:srgbClr val="E5E9F0"/>
      </a:dk2>
      <a:lt2>
        <a:srgbClr val="3B4252"/>
      </a:lt2>
      <a:accent1>
        <a:srgbClr val="A3BE8C"/>
      </a:accent1>
      <a:accent2>
        <a:srgbClr val="88C0D0"/>
      </a:accent2>
      <a:accent3>
        <a:srgbClr val="EBCB8B"/>
      </a:accent3>
      <a:accent4>
        <a:srgbClr val="9F7FC3"/>
      </a:accent4>
      <a:accent5>
        <a:srgbClr val="D8DEE9"/>
      </a:accent5>
      <a:accent6>
        <a:srgbClr val="5E81AC"/>
      </a:accent6>
      <a:hlink>
        <a:srgbClr val="5E81AC"/>
      </a:hlink>
      <a:folHlink>
        <a:srgbClr val="81A1C1"/>
      </a:folHlink>
    </a:clrScheme>
    <a:fontScheme name="Brill + Noto">
      <a:majorFont>
        <a:latin typeface="Brill"/>
        <a:ea typeface="Noto Serif TC"/>
        <a:cs typeface=""/>
      </a:majorFont>
      <a:minorFont>
        <a:latin typeface="Brill"/>
        <a:ea typeface="Noto Serif TC"/>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1526</TotalTime>
  <Words>4735</Words>
  <Application>Microsoft Office PowerPoint</Application>
  <PresentationFormat>Widescreen</PresentationFormat>
  <Paragraphs>784</Paragraphs>
  <Slides>59</Slides>
  <Notes>0</Notes>
  <HiddenSlides>17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Google Sans</vt:lpstr>
      <vt:lpstr>Aptos</vt:lpstr>
      <vt:lpstr>Arial</vt:lpstr>
      <vt:lpstr>Brill</vt:lpstr>
      <vt:lpstr>Cascadia Mono</vt:lpstr>
      <vt:lpstr>Times New Roman</vt:lpstr>
      <vt:lpstr>Wingdings 2</vt:lpstr>
      <vt:lpstr>Wingdings 3</vt:lpstr>
      <vt:lpstr>View</vt:lpstr>
      <vt:lpstr>Exclusivity in Hungarian focus constructions: A visual world paradigm study with self-paced reading and eye-tracking —a small update</vt:lpstr>
      <vt:lpstr>Background</vt:lpstr>
      <vt:lpstr>Background</vt:lpstr>
      <vt:lpstr>Background</vt:lpstr>
      <vt:lpstr>Background</vt:lpstr>
      <vt:lpstr>Background</vt:lpstr>
      <vt:lpstr>Background</vt:lpstr>
      <vt:lpstr>Focus construction &amp; its characteristics</vt:lpstr>
      <vt:lpstr>Exhaustivity/Exclusivity</vt:lpstr>
      <vt:lpstr>Exhaustivity/Exclusivity</vt:lpstr>
      <vt:lpstr>Exhaustivity/Exclusivity</vt:lpstr>
      <vt:lpstr>Contrastive vs. Exhaustive?</vt:lpstr>
      <vt:lpstr>Contrastive vs. Exhaustive?</vt:lpstr>
      <vt:lpstr>Contrastive vs. Exhaustive?</vt:lpstr>
      <vt:lpstr>Experiment design</vt:lpstr>
      <vt:lpstr>Experiment design</vt:lpstr>
      <vt:lpstr>Experiment design</vt:lpstr>
      <vt:lpstr>Experiment design</vt:lpstr>
      <vt:lpstr>PowerPoint Presentation</vt:lpstr>
      <vt:lpstr>PowerPoint Presentation</vt:lpstr>
      <vt:lpstr>PowerPoint Presentation</vt:lpstr>
      <vt:lpstr>PowerPoint Presentation</vt:lpstr>
      <vt:lpstr>PowerPoint Presentation</vt:lpstr>
      <vt:lpstr>Design</vt:lpstr>
      <vt:lpstr>Design</vt:lpstr>
      <vt:lpstr>Design</vt:lpstr>
      <vt:lpstr>PowerPoint Presentation</vt:lpstr>
      <vt:lpstr>PowerPoint Presentation</vt:lpstr>
      <vt:lpstr>Participants</vt:lpstr>
      <vt:lpstr>Results: Expectations &amp; Sanity check</vt:lpstr>
      <vt:lpstr>Reading Times: Raw</vt:lpstr>
      <vt:lpstr>Reading Times: Means &amp; Comparison</vt:lpstr>
      <vt:lpstr>Behavioral Results: Choices</vt:lpstr>
      <vt:lpstr>Eye-Tracking </vt:lpstr>
      <vt:lpstr>Eye-Tracking: Cleaning &amp; Classification</vt:lpstr>
      <vt:lpstr>Raw          Classified</vt:lpstr>
      <vt:lpstr>Raw          Classified</vt:lpstr>
      <vt:lpstr>      </vt:lpstr>
      <vt:lpstr>Analyzing ET data</vt:lpstr>
      <vt:lpstr>Next step: Statistical analysis</vt:lpstr>
      <vt:lpstr>Thank you, </vt:lpstr>
      <vt:lpstr>PowerPoint Presentation</vt:lpstr>
      <vt:lpstr>Two experiments</vt:lpstr>
      <vt:lpstr>Two experiments: 1</vt:lpstr>
      <vt:lpstr>Two experiments: 1</vt:lpstr>
      <vt:lpstr>Two experiments: 1</vt:lpstr>
      <vt:lpstr>Two experiments: 1</vt:lpstr>
      <vt:lpstr>Two experiments: 2</vt:lpstr>
      <vt:lpstr>Two experiments: 2</vt:lpstr>
      <vt:lpstr>Two experiments: 2</vt:lpstr>
      <vt:lpstr>Two experiments: 2A</vt:lpstr>
      <vt:lpstr>Two experiments: 2A - verb</vt:lpstr>
      <vt:lpstr>Two experiments: 2B - gender</vt:lpstr>
      <vt:lpstr>Two experiments: 2B - gender</vt:lpstr>
      <vt:lpstr>Two experiments: 2B - gender</vt:lpstr>
      <vt:lpstr>Two experiments: 2</vt:lpstr>
      <vt:lpstr>Experiment design</vt:lpstr>
      <vt:lpstr>Experiment design</vt:lpstr>
      <vt:lpstr>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Parti</dc:creator>
  <cp:lastModifiedBy>Gábor P.</cp:lastModifiedBy>
  <cp:revision>44</cp:revision>
  <dcterms:created xsi:type="dcterms:W3CDTF">2025-07-28T03:45:11Z</dcterms:created>
  <dcterms:modified xsi:type="dcterms:W3CDTF">2026-02-27T12:31:43Z</dcterms:modified>
</cp:coreProperties>
</file>